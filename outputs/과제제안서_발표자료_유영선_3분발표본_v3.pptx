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a80426719d4bac" /><Relationship Type="http://schemas.openxmlformats.org/officeDocument/2006/relationships/extended-properties" Target="/docProps/app.xml" Id="Rbf0d57c855d54b13" /><Relationship Type="http://schemas.openxmlformats.org/officeDocument/2006/relationships/officeDocument" Target="/ppt/presentation.xml" Id="R5f376f1bd8a448b5" /></Relationships>
</file>

<file path=ppt/presentation.xml><?xml version="1.0" encoding="utf-8"?>
<p:presentation xmlns:p="http://schemas.openxmlformats.org/presentationml/2006/main">
  <p:sldMasterIdLst>
    <p:sldMasterId xmlns:r="http://schemas.openxmlformats.org/officeDocument/2006/relationships" id="2147483648" r:id="R93053b78d3e04fb5"/>
  </p:sldMasterIdLst>
  <p:notesMasterIdLst>
    <p:notesMasterId xmlns:r="http://schemas.openxmlformats.org/officeDocument/2006/relationships" r:id="Rd899a8fcbfaf4a8f"/>
  </p:notesMasterIdLst>
  <p:sldIdLst>
    <p:sldId xmlns:r="http://schemas.openxmlformats.org/officeDocument/2006/relationships" id="256" r:id="R556d22d7f3ff4e99"/>
    <p:sldId xmlns:r="http://schemas.openxmlformats.org/officeDocument/2006/relationships" id="257" r:id="Rb4ae49a5a3904627"/>
    <p:sldId xmlns:r="http://schemas.openxmlformats.org/officeDocument/2006/relationships" id="258" r:id="R710758289aad4e78"/>
    <p:sldId xmlns:r="http://schemas.openxmlformats.org/officeDocument/2006/relationships" id="259" r:id="Rf630b416a8164d41"/>
    <p:sldId xmlns:r="http://schemas.openxmlformats.org/officeDocument/2006/relationships" id="260" r:id="Ra97dc0e0d0774001"/>
    <p:sldId xmlns:r="http://schemas.openxmlformats.org/officeDocument/2006/relationships" id="261" r:id="Re47062255a85432e"/>
    <p:sldId xmlns:r="http://schemas.openxmlformats.org/officeDocument/2006/relationships" id="262" r:id="R2f2b460188474d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c17bcca8f1452e" /><Relationship Type="http://schemas.openxmlformats.org/officeDocument/2006/relationships/slideMaster" Target="/ppt/slideMasters/slideMaster1.xml" Id="R93053b78d3e04fb5" /><Relationship Type="http://schemas.openxmlformats.org/officeDocument/2006/relationships/notesMaster" Target="/ppt/notesMasters/notesMaster1.xml" Id="Rd899a8fcbfaf4a8f" /><Relationship Type="http://schemas.openxmlformats.org/officeDocument/2006/relationships/presProps" Target="/ppt/presProps.xml" Id="R5c886e420b8e4973" /><Relationship Type="http://schemas.openxmlformats.org/officeDocument/2006/relationships/tableStyles" Target="/ppt/tableStyles.xml" Id="R43b246f0615f474f" /><Relationship Type="http://schemas.openxmlformats.org/officeDocument/2006/relationships/slide" Target="/ppt/slides/slide1.xml" Id="R556d22d7f3ff4e99" /><Relationship Type="http://schemas.openxmlformats.org/officeDocument/2006/relationships/slide" Target="/ppt/slides/slide2.xml" Id="Rb4ae49a5a3904627" /><Relationship Type="http://schemas.openxmlformats.org/officeDocument/2006/relationships/slide" Target="/ppt/slides/slide3.xml" Id="R710758289aad4e78" /><Relationship Type="http://schemas.openxmlformats.org/officeDocument/2006/relationships/slide" Target="/ppt/slides/slide4.xml" Id="Rf630b416a8164d41" /><Relationship Type="http://schemas.openxmlformats.org/officeDocument/2006/relationships/slide" Target="/ppt/slides/slide5.xml" Id="Ra97dc0e0d0774001" /><Relationship Type="http://schemas.openxmlformats.org/officeDocument/2006/relationships/slide" Target="/ppt/slides/slide6.xml" Id="Re47062255a85432e" /><Relationship Type="http://schemas.openxmlformats.org/officeDocument/2006/relationships/slide" Target="/ppt/slides/slide7.xml" Id="R2f2b460188474d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01d5926a9b47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2f71e8975c425f" /><Relationship Type="http://schemas.openxmlformats.org/officeDocument/2006/relationships/notesMaster" Target="/ppt/notesMasters/notesMaster1.xml" Id="R35672fc04d3144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a4283bac1848aa" /><Relationship Type="http://schemas.openxmlformats.org/officeDocument/2006/relationships/notesMaster" Target="/ppt/notesMasters/notesMaster1.xml" Id="Rdbb0c64f95d142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98486052444d8f" /><Relationship Type="http://schemas.openxmlformats.org/officeDocument/2006/relationships/notesMaster" Target="/ppt/notesMasters/notesMaster1.xml" Id="Rd272cf3438294e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3c56d0718c454d" /><Relationship Type="http://schemas.openxmlformats.org/officeDocument/2006/relationships/notesMaster" Target="/ppt/notesMasters/notesMaster1.xml" Id="Re4f10c72161342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46e65e785f4f9e" /><Relationship Type="http://schemas.openxmlformats.org/officeDocument/2006/relationships/notesMaster" Target="/ppt/notesMasters/notesMaster1.xml" Id="R7b504ac4688741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39cc47628447a2" /><Relationship Type="http://schemas.openxmlformats.org/officeDocument/2006/relationships/notesMaster" Target="/ppt/notesMasters/notesMaster1.xml" Id="R0ce4eaa8418e49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b9b471eb9a4684" /><Relationship Type="http://schemas.openxmlformats.org/officeDocument/2006/relationships/notesMaster" Target="/ppt/notesMasters/notesMaster1.xml" Id="R1a52fbf8d6894a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플레이어는 조작기로 terrain을 탐색하고 인물과 대화합니다. 선택을 통해 능력치를 관리하고, 상황에 맞는 퀘스트와 미니게임을 수행합니다. 여기서 얻은 보상과 해금 상태를 쌓아 각 챕터의 전투를 준비합니다. 저는 이 흐름에서 이야기 변화, 환경 구성과 미니게임 결과의 연결을 구현합니다.</a:t>
            </a:r>
          </a:p>
          <a:p xmlns:a="http://schemas.openxmlformats.org/drawingml/2006/main">
            <a:r>
              <a:t>이미지: OpenAI ImageGen으로 제작한 프로젝트 설명용 개념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비슷한 게임인 Reigns는 미리 작성된 카드에서 좌우 선택을 하고, 교회·민중·군대·재정의 균형을 유지하며 새 카드를 해금합니다. 저희 게임은 이 선택 구조를 바탕으로 이전 플레이 기록에 따라 허용된 문장만 로컬 한국어 LLM으로 바꿉니다. 또한 그 결과를 terrain과 퀘스트, 미니게임 데이터에 연결한다는 차이가 있습니다. 현재는 프롬프트 형식과 출력 품질이 불안정하고 변화가 문장에 집중되어 있습니다. 이를 해결하기 위해 입력 스키마와 예시를 고정하고, 경로 검증과 원문 복구를 적용하겠습니다. 메인 사건과 일상 대화는 분리하여 파인튜닝하고, 검증된 결과만 게임에 반영하겠습니다.</a:t>
            </a:r>
          </a:p>
          <a:p xmlns:a="http://schemas.openxmlformats.org/drawingml/2006/main">
            <a:r>
              <a:t>Reigns 공식 설명: https://www.devolverdigital.com/games/reigns</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이를 구현하기 위해 저는 네 가지 기능을 담당합니다. Kanana 모델의 로컬 실행, 생성 문장의 변경 범위 검증, Excel과 JSON을 이용한 terrain 데이터 관리, 미니게임 결과를 보상과 후속 이야기로 연결하는 작업입니다. 기존 선택형 스토리와 저장 구조를 유지하면서 기능을 단계적으로 추가하겠습니다.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네 단계입니다. Excel에서 terrain과 이야기, 퀘스트를 기획하고 JSON 스키마로 식별자와 경로를 검사합니다. Kanana와 Transformers로 허용된 이야기만 변경한 뒤, Unity가 검증된 데이터로 환경과 대화, 미니게임을 구성합니다. Python 자동 검사와 Codex, CLI, MCP는 반복 개발과 검증에 활용합니다.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먼저 이야기 흐름, 미니게임 동작, 데이터 연결과 성능을 검증합니다. LLM은 루트와 핵심 사건을 유지해야 하고, 각 미니게임은 상황에 맞게 실행되어 결과를 저장해야 합니다. 현재 코드에 파서, 품질 검사, 재시도와 원문 복구가 있으므로 이 구조에서 기능을 단계적으로 넓힐 수 있습니다.</a:t>
            </a:r>
          </a:p>
          <a:p xmlns:a="http://schemas.openxmlformats.org/drawingml/2006/main">
            <a:r>
              <a:t>출처: C:/Users/유영선/.codex/attachments/5bfba1a3-0c58-4647-b892-df9d0e33c049/붙여넣은 텍스트.txt;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ae7da60bed45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1e7d4863ee4370" /><Relationship Type="http://schemas.openxmlformats.org/officeDocument/2006/relationships/slideLayout" Target="/ppt/slideLayouts/slideLayout1.xml" Id="Rdf536d62b1a543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536d62b1a543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a0b4f4e1fe464b" /><Relationship Type="http://schemas.openxmlformats.org/officeDocument/2006/relationships/notesSlide" Target="/ppt/notesSlides/notesSlide1.xml" Id="R09237ae16e674c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312d652ad24dad" /><Relationship Type="http://schemas.openxmlformats.org/officeDocument/2006/relationships/image" Target="/ppt/media/image.png" Id="R133bde1c874e46c2" /><Relationship Type="http://schemas.openxmlformats.org/officeDocument/2006/relationships/notesSlide" Target="/ppt/notesSlides/notesSlide2.xml" Id="R4c495a03bdb74d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c935c6997b43d5" /><Relationship Type="http://schemas.openxmlformats.org/officeDocument/2006/relationships/notesSlide" Target="/ppt/notesSlides/notesSlide3.xml" Id="Rff3f8e1508d64e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1a6a69bec3469d" /><Relationship Type="http://schemas.openxmlformats.org/officeDocument/2006/relationships/notesSlide" Target="/ppt/notesSlides/notesSlide4.xml" Id="R96623acc0e0c47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d778decce841ed" /><Relationship Type="http://schemas.openxmlformats.org/officeDocument/2006/relationships/notesSlide" Target="/ppt/notesSlides/notesSlide5.xml" Id="R41df98caaf3747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f671747d63403c" /><Relationship Type="http://schemas.openxmlformats.org/officeDocument/2006/relationships/notesSlide" Target="/ppt/notesSlides/notesSlide6.xml" Id="Rd1ca69782f3342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c17a54e8894e99" /><Relationship Type="http://schemas.openxmlformats.org/officeDocument/2006/relationships/notesSlide" Target="/ppt/notesSlides/notesSlide7.xml" Id="R102c7a2bf24e4f34"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5EAD7D-77EA-440C-BD2D-F1C315B2B5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9027F1-ACE3-4DE6-A34E-E90CCC3FD31F}"/>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31F9B2B7-341F-48EE-92A7-FB56F5174D9E}"/>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79BBA586-ECFF-4C75-BD26-5E213A1FE82E}"/>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19D08FCD-7B3C-4954-A7BF-67D60D70DAB8}"/>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FD4436-1F18-4332-8EDA-AABF0754F88B}"/>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79BB382C-BAE7-4C56-8250-690092CE4813}"/>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293120C2-B0F3-40E8-9778-FF58E99120DA}"/>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823B253E-64C6-4B57-A433-BD17B7657508}"/>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135382622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80815A-5F82-4AC5-8105-820001724AA9}"/>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EEA3BB1D-41B5-429A-8166-248DC73D1D52}"/>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28A41DAF-E572-4D1A-976A-89F8DFC9745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33bde1c874e46c2"/>
          <a:srcRect xmlns:a="http://schemas.openxmlformats.org/drawingml/2006/main" l="0" t="16839" r="0" b="16839"/>
          <a:stretch xmlns:a="http://schemas.openxmlformats.org/drawingml/2006/main">
            <a:fillRect l="0" t="0" r="0" b="0"/>
          </a:stretch>
        </p:blipFill>
        <p:spPr>
          <a:xfrm xmlns:a="http://schemas.openxmlformats.org/drawingml/2006/main">
            <a:off x="609600" y="1238250"/>
            <a:ext cx="10972800" cy="4095750"/>
          </a:xfrm>
          <a:prstGeom xmlns:a="http://schemas.openxmlformats.org/drawingml/2006/main" prst="roundRect">
            <a:avLst>
              <a:gd name="adj" fmla="val 4186"/>
            </a:avLst>
          </a:prstGeom>
        </p:spPr>
      </p:pic>
      <p:sp>
        <p:nvSpPr>
          <p:cNvPr id="5" name="">
            <a:extLst xmlns:a="http://schemas.openxmlformats.org/drawingml/2006/main">
              <a:ext uri="{FF2B5EF4-FFF2-40B4-BE49-F238E27FC236}">
                <a16:creationId xmlns:a16="http://schemas.microsoft.com/office/drawing/2014/main" id="{94BC9336-0AB5-4C24-A5F4-83A35437C510}"/>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1143EF-9155-4DB7-A9E4-E6C7B549DD09}"/>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72E7DC58-97F8-45C2-82AC-1930B6D30771}"/>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8" name="">
            <a:extLst xmlns:a="http://schemas.openxmlformats.org/drawingml/2006/main">
              <a:ext uri="{FF2B5EF4-FFF2-40B4-BE49-F238E27FC236}">
                <a16:creationId xmlns:a16="http://schemas.microsoft.com/office/drawing/2014/main" id="{FFEC0822-CA2D-4CBE-BAF4-F43AC8FF81E4}"/>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A78C74A3-241A-48DA-8ECF-2DE39252B77C}"/>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0" name="">
            <a:extLst xmlns:a="http://schemas.openxmlformats.org/drawingml/2006/main">
              <a:ext uri="{FF2B5EF4-FFF2-40B4-BE49-F238E27FC236}">
                <a16:creationId xmlns:a16="http://schemas.microsoft.com/office/drawing/2014/main" id="{C2468C4B-1541-4E2D-9743-EA71D66EA5C0}"/>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11" name="">
            <a:extLst xmlns:a="http://schemas.openxmlformats.org/drawingml/2006/main">
              <a:ext uri="{FF2B5EF4-FFF2-40B4-BE49-F238E27FC236}">
                <a16:creationId xmlns:a16="http://schemas.microsoft.com/office/drawing/2014/main" id="{266D1D1E-B084-4C81-A570-9AA7EAD9CFEB}"/>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12" name="">
            <a:extLst xmlns:a="http://schemas.openxmlformats.org/drawingml/2006/main">
              <a:ext uri="{FF2B5EF4-FFF2-40B4-BE49-F238E27FC236}">
                <a16:creationId xmlns:a16="http://schemas.microsoft.com/office/drawing/2014/main" id="{7A63C2DE-A441-44B0-BE61-E20F559ABB2E}"/>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13" name="">
            <a:extLst xmlns:a="http://schemas.openxmlformats.org/drawingml/2006/main">
              <a:ext uri="{FF2B5EF4-FFF2-40B4-BE49-F238E27FC236}">
                <a16:creationId xmlns:a16="http://schemas.microsoft.com/office/drawing/2014/main" id="{03BA562C-B352-41CF-A33E-EC42A741117D}"/>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14" name="">
            <a:extLst xmlns:a="http://schemas.openxmlformats.org/drawingml/2006/main">
              <a:ext uri="{FF2B5EF4-FFF2-40B4-BE49-F238E27FC236}">
                <a16:creationId xmlns:a16="http://schemas.microsoft.com/office/drawing/2014/main" id="{E827F679-F214-4BA7-AC09-22FCC7AA7606}"/>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15" name="">
            <a:extLst xmlns:a="http://schemas.openxmlformats.org/drawingml/2006/main">
              <a:ext uri="{FF2B5EF4-FFF2-40B4-BE49-F238E27FC236}">
                <a16:creationId xmlns:a16="http://schemas.microsoft.com/office/drawing/2014/main" id="{6A1ADE1C-1983-4ECE-A295-5725A152441F}"/>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16" name="">
            <a:extLst xmlns:a="http://schemas.openxmlformats.org/drawingml/2006/main">
              <a:ext uri="{FF2B5EF4-FFF2-40B4-BE49-F238E27FC236}">
                <a16:creationId xmlns:a16="http://schemas.microsoft.com/office/drawing/2014/main" id="{66CBD846-9F34-42CE-8A12-7111B331200A}"/>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1560704749"/>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0D0F78-B6C3-4CDC-92F7-8533D0A306C9}"/>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보완</a:t>
            </a:r>
          </a:p>
        </p:txBody>
      </p:sp>
      <p:sp>
        <p:nvSpPr>
          <p:cNvPr id="2" name="">
            <a:extLst xmlns:a="http://schemas.openxmlformats.org/drawingml/2006/main">
              <a:ext uri="{FF2B5EF4-FFF2-40B4-BE49-F238E27FC236}">
                <a16:creationId xmlns:a16="http://schemas.microsoft.com/office/drawing/2014/main" id="{8272DC7F-D91C-49D2-890A-9A42AA215E5F}"/>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481EC400-9BE7-4287-8AA3-A2D02DC710D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536B10-D2C3-48DE-9ECF-A3F9E917EEA3}"/>
              </a:ext>
            </a:extLst>
          </p:cNvPr>
          <p:cNvSpPr>
            <a:spLocks xmlns:a="http://schemas.openxmlformats.org/drawingml/2006/main" noGrp="1"/>
          </p:cNvSpPr>
          <p:nvPr/>
        </p:nvSpPr>
        <p:spPr>
          <a:xfrm xmlns:a="http://schemas.openxmlformats.org/drawingml/2006/main">
            <a:off x="723900" y="1314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Reigns</a:t>
            </a:r>
          </a:p>
        </p:txBody>
      </p:sp>
      <p:sp>
        <p:nvSpPr>
          <p:cNvPr id="5" name="">
            <a:extLst xmlns:a="http://schemas.openxmlformats.org/drawingml/2006/main">
              <a:ext uri="{FF2B5EF4-FFF2-40B4-BE49-F238E27FC236}">
                <a16:creationId xmlns:a16="http://schemas.microsoft.com/office/drawing/2014/main" id="{E2E0232F-6943-4DCC-B010-741B7D62DC63}"/>
              </a:ext>
            </a:extLst>
          </p:cNvPr>
          <p:cNvSpPr>
            <a:spLocks xmlns:a="http://schemas.openxmlformats.org/drawingml/2006/main" noGrp="1"/>
          </p:cNvSpPr>
          <p:nvPr/>
        </p:nvSpPr>
        <p:spPr>
          <a:xfrm xmlns:a="http://schemas.openxmlformats.org/drawingml/2006/main">
            <a:off x="723900" y="1790700"/>
            <a:ext cx="4000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정해진 카드에서 좌우 선택</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네 지표의 균형을 유지</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목표 달성으로 카드 해금</a:t>
            </a:r>
          </a:p>
        </p:txBody>
      </p:sp>
      <p:sp>
        <p:nvSpPr>
          <p:cNvPr id="6" name="">
            <a:extLst xmlns:a="http://schemas.openxmlformats.org/drawingml/2006/main">
              <a:ext uri="{FF2B5EF4-FFF2-40B4-BE49-F238E27FC236}">
                <a16:creationId xmlns:a16="http://schemas.microsoft.com/office/drawing/2014/main" id="{F042A6B7-AEC5-46FC-B3EE-0BCB8AF62D88}"/>
              </a:ext>
            </a:extLst>
          </p:cNvPr>
          <p:cNvSpPr>
            <a:spLocks xmlns:a="http://schemas.openxmlformats.org/drawingml/2006/main" noGrp="1"/>
          </p:cNvSpPr>
          <p:nvPr/>
        </p:nvSpPr>
        <p:spPr>
          <a:xfrm xmlns:a="http://schemas.openxmlformats.org/drawingml/2006/main">
            <a:off x="4933950" y="1390650"/>
            <a:ext cx="19050" cy="17335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C364C6-D5A3-4808-A68D-77B34AA9EBE5}"/>
              </a:ext>
            </a:extLst>
          </p:cNvPr>
          <p:cNvSpPr>
            <a:spLocks xmlns:a="http://schemas.openxmlformats.org/drawingml/2006/main" noGrp="1"/>
          </p:cNvSpPr>
          <p:nvPr/>
        </p:nvSpPr>
        <p:spPr>
          <a:xfrm xmlns:a="http://schemas.openxmlformats.org/drawingml/2006/main">
            <a:off x="5391150" y="13144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본 프로젝트</a:t>
            </a:r>
          </a:p>
        </p:txBody>
      </p:sp>
      <p:sp>
        <p:nvSpPr>
          <p:cNvPr id="8" name="">
            <a:extLst xmlns:a="http://schemas.openxmlformats.org/drawingml/2006/main">
              <a:ext uri="{FF2B5EF4-FFF2-40B4-BE49-F238E27FC236}">
                <a16:creationId xmlns:a16="http://schemas.microsoft.com/office/drawing/2014/main" id="{67606981-1138-4DF5-8F4F-D9EA3ED614BE}"/>
              </a:ext>
            </a:extLst>
          </p:cNvPr>
          <p:cNvSpPr>
            <a:spLocks xmlns:a="http://schemas.openxmlformats.org/drawingml/2006/main" noGrp="1"/>
          </p:cNvSpPr>
          <p:nvPr/>
        </p:nvSpPr>
        <p:spPr>
          <a:xfrm xmlns:a="http://schemas.openxmlformats.org/drawingml/2006/main">
            <a:off x="5391150" y="1790700"/>
            <a:ext cx="6038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이전 플레이 기록으로 허용 문장 변화</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한국어 LLM을 게임 내부에서 실행</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결과를 terrain·퀘스트·미니게임과 연결</a:t>
            </a:r>
          </a:p>
        </p:txBody>
      </p:sp>
      <p:sp>
        <p:nvSpPr>
          <p:cNvPr id="9" name="">
            <a:extLst xmlns:a="http://schemas.openxmlformats.org/drawingml/2006/main">
              <a:ext uri="{FF2B5EF4-FFF2-40B4-BE49-F238E27FC236}">
                <a16:creationId xmlns:a16="http://schemas.microsoft.com/office/drawing/2014/main" id="{D0FBE929-F85D-4C36-8E73-F5CA2BEAEAE5}"/>
              </a:ext>
            </a:extLst>
          </p:cNvPr>
          <p:cNvSpPr>
            <a:spLocks xmlns:a="http://schemas.openxmlformats.org/drawingml/2006/main" noGrp="1"/>
          </p:cNvSpPr>
          <p:nvPr/>
        </p:nvSpPr>
        <p:spPr>
          <a:xfrm xmlns:a="http://schemas.openxmlformats.org/drawingml/2006/main">
            <a:off x="723900" y="3429000"/>
            <a:ext cx="4000500" cy="2171700"/>
          </a:xfrm>
          <a:prstGeom xmlns:a="http://schemas.openxmlformats.org/drawingml/2006/main" prst="roundRect">
            <a:avLst>
              <a:gd name="adj" fmla="val 7018"/>
            </a:avLst>
          </a:prstGeom>
          <a:solidFill xmlns:a="http://schemas.openxmlformats.org/drawingml/2006/main">
            <a:srgbClr val="F6E6DA"/>
          </a:solidFill>
          <a:ln xmlns:a="http://schemas.openxmlformats.org/drawingml/2006/main" w="9525">
            <a:solidFill>
              <a:srgbClr val="D9854F"/>
            </a:solidFill>
            <a:prstDash val="solid"/>
          </a:ln>
        </p:spPr>
      </p:sp>
      <p:sp>
        <p:nvSpPr>
          <p:cNvPr id="10" name="">
            <a:extLst xmlns:a="http://schemas.openxmlformats.org/drawingml/2006/main">
              <a:ext uri="{FF2B5EF4-FFF2-40B4-BE49-F238E27FC236}">
                <a16:creationId xmlns:a16="http://schemas.microsoft.com/office/drawing/2014/main" id="{E49535F3-4D1A-4C0A-BB76-8E1C5DD0EAB0}"/>
              </a:ext>
            </a:extLst>
          </p:cNvPr>
          <p:cNvSpPr>
            <a:spLocks xmlns:a="http://schemas.openxmlformats.org/drawingml/2006/main" noGrp="1"/>
          </p:cNvSpPr>
          <p:nvPr/>
        </p:nvSpPr>
        <p:spPr>
          <a:xfrm xmlns:a="http://schemas.openxmlformats.org/drawingml/2006/main">
            <a:off x="97155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부족한 점</a:t>
            </a:r>
          </a:p>
        </p:txBody>
      </p:sp>
      <p:sp>
        <p:nvSpPr>
          <p:cNvPr id="11" name="">
            <a:extLst xmlns:a="http://schemas.openxmlformats.org/drawingml/2006/main">
              <a:ext uri="{FF2B5EF4-FFF2-40B4-BE49-F238E27FC236}">
                <a16:creationId xmlns:a16="http://schemas.microsoft.com/office/drawing/2014/main" id="{45DEBA1D-649D-42BC-A872-064189EF5E08}"/>
              </a:ext>
            </a:extLst>
          </p:cNvPr>
          <p:cNvSpPr>
            <a:spLocks xmlns:a="http://schemas.openxmlformats.org/drawingml/2006/main" noGrp="1"/>
          </p:cNvSpPr>
          <p:nvPr/>
        </p:nvSpPr>
        <p:spPr>
          <a:xfrm xmlns:a="http://schemas.openxmlformats.org/drawingml/2006/main">
            <a:off x="971550" y="4114800"/>
            <a:ext cx="3429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0">
                <a:solidFill>
                  <a:srgbClr val="173042"/>
                </a:solidFill>
                <a:latin typeface="Noto Sans KR"/>
                <a:ea typeface="Noto Sans KR"/>
                <a:cs typeface="Noto Sans KR"/>
              </a:defRPr>
            </a:pPr>
            <a:r>
              <a:rPr sz="1575" b="0">
                <a:solidFill>
                  <a:srgbClr val="173042"/>
                </a:solidFill>
                <a:latin typeface="Noto Sans KR"/>
                <a:ea typeface="Noto Sans KR"/>
                <a:cs typeface="Noto Sans KR"/>
              </a:rPr>
              <a:t>프롬프트 형식과 출력 품질이 불안정</a:t>
            </a:r>
          </a:p>
          <a:p xmlns:a="http://schemas.openxmlformats.org/drawingml/2006/main">
            <a:pPr algn="l">
              <a:defRPr sz="1575" b="0">
                <a:solidFill>
                  <a:srgbClr val="173042"/>
                </a:solidFill>
                <a:latin typeface="Noto Sans KR"/>
                <a:ea typeface="Noto Sans KR"/>
                <a:cs typeface="Noto Sans KR"/>
              </a:defRPr>
            </a:pPr>
            <a:r>
              <a:rPr sz="1575" b="0">
                <a:solidFill>
                  <a:srgbClr val="173042"/>
                </a:solidFill>
                <a:latin typeface="Noto Sans KR"/>
                <a:ea typeface="Noto Sans KR"/>
                <a:cs typeface="Noto Sans KR"/>
              </a:rPr>
              <a:t>생성 결과가 아직 문장 변화에 집중</a:t>
            </a:r>
          </a:p>
          <a:p xmlns:a="http://schemas.openxmlformats.org/drawingml/2006/main">
            <a:pPr algn="l">
              <a:defRPr sz="1575" b="0">
                <a:solidFill>
                  <a:srgbClr val="173042"/>
                </a:solidFill>
                <a:latin typeface="Noto Sans KR"/>
                <a:ea typeface="Noto Sans KR"/>
                <a:cs typeface="Noto Sans KR"/>
              </a:defRPr>
            </a:pPr>
            <a:r>
              <a:rPr sz="1575" b="0">
                <a:solidFill>
                  <a:srgbClr val="173042"/>
                </a:solidFill>
                <a:latin typeface="Noto Sans KR"/>
                <a:ea typeface="Noto Sans KR"/>
                <a:cs typeface="Noto Sans KR"/>
              </a:rPr>
              <a:t>일상 대화의 재미와 반복성을 검증하지 않음</a:t>
            </a:r>
          </a:p>
        </p:txBody>
      </p:sp>
      <p:sp>
        <p:nvSpPr>
          <p:cNvPr id="12" name="">
            <a:extLst xmlns:a="http://schemas.openxmlformats.org/drawingml/2006/main">
              <a:ext uri="{FF2B5EF4-FFF2-40B4-BE49-F238E27FC236}">
                <a16:creationId xmlns:a16="http://schemas.microsoft.com/office/drawing/2014/main" id="{6124F564-E6E5-45A0-98DA-06812AEF7BC4}"/>
              </a:ext>
            </a:extLst>
          </p:cNvPr>
          <p:cNvSpPr>
            <a:spLocks xmlns:a="http://schemas.openxmlformats.org/drawingml/2006/main" noGrp="1"/>
          </p:cNvSpPr>
          <p:nvPr/>
        </p:nvSpPr>
        <p:spPr>
          <a:xfrm xmlns:a="http://schemas.openxmlformats.org/drawingml/2006/main">
            <a:off x="5334000" y="3467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해결 방법</a:t>
            </a:r>
          </a:p>
        </p:txBody>
      </p:sp>
      <p:sp>
        <p:nvSpPr>
          <p:cNvPr id="13" name="">
            <a:extLst xmlns:a="http://schemas.openxmlformats.org/drawingml/2006/main">
              <a:ext uri="{FF2B5EF4-FFF2-40B4-BE49-F238E27FC236}">
                <a16:creationId xmlns:a16="http://schemas.microsoft.com/office/drawing/2014/main" id="{F80C8C2E-9134-4811-8E8B-71D5CE36F7EE}"/>
              </a:ext>
            </a:extLst>
          </p:cNvPr>
          <p:cNvSpPr>
            <a:spLocks xmlns:a="http://schemas.openxmlformats.org/drawingml/2006/main" noGrp="1"/>
          </p:cNvSpPr>
          <p:nvPr/>
        </p:nvSpPr>
        <p:spPr>
          <a:xfrm xmlns:a="http://schemas.openxmlformats.org/drawingml/2006/main">
            <a:off x="5334000" y="39433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1</a:t>
            </a:r>
          </a:p>
        </p:txBody>
      </p:sp>
      <p:sp>
        <p:nvSpPr>
          <p:cNvPr id="14" name="">
            <a:extLst xmlns:a="http://schemas.openxmlformats.org/drawingml/2006/main">
              <a:ext uri="{FF2B5EF4-FFF2-40B4-BE49-F238E27FC236}">
                <a16:creationId xmlns:a16="http://schemas.microsoft.com/office/drawing/2014/main" id="{ABC77AB4-A460-432D-A7D4-1A176A3325AA}"/>
              </a:ext>
            </a:extLst>
          </p:cNvPr>
          <p:cNvSpPr>
            <a:spLocks xmlns:a="http://schemas.openxmlformats.org/drawingml/2006/main" noGrp="1"/>
          </p:cNvSpPr>
          <p:nvPr/>
        </p:nvSpPr>
        <p:spPr>
          <a:xfrm xmlns:a="http://schemas.openxmlformats.org/drawingml/2006/main">
            <a:off x="5810250" y="39243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입력 JSON 스키마와 예시를 고정</a:t>
            </a:r>
          </a:p>
        </p:txBody>
      </p:sp>
      <p:sp>
        <p:nvSpPr>
          <p:cNvPr id="15" name="">
            <a:extLst xmlns:a="http://schemas.openxmlformats.org/drawingml/2006/main">
              <a:ext uri="{FF2B5EF4-FFF2-40B4-BE49-F238E27FC236}">
                <a16:creationId xmlns:a16="http://schemas.microsoft.com/office/drawing/2014/main" id="{28ABDD37-23C3-4A3C-9505-45D248CE89B8}"/>
              </a:ext>
            </a:extLst>
          </p:cNvPr>
          <p:cNvSpPr>
            <a:spLocks xmlns:a="http://schemas.openxmlformats.org/drawingml/2006/main" noGrp="1"/>
          </p:cNvSpPr>
          <p:nvPr/>
        </p:nvSpPr>
        <p:spPr>
          <a:xfrm xmlns:a="http://schemas.openxmlformats.org/drawingml/2006/main">
            <a:off x="5334000" y="44005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2</a:t>
            </a:r>
          </a:p>
        </p:txBody>
      </p:sp>
      <p:sp>
        <p:nvSpPr>
          <p:cNvPr id="16" name="">
            <a:extLst xmlns:a="http://schemas.openxmlformats.org/drawingml/2006/main">
              <a:ext uri="{FF2B5EF4-FFF2-40B4-BE49-F238E27FC236}">
                <a16:creationId xmlns:a16="http://schemas.microsoft.com/office/drawing/2014/main" id="{AEEEF56B-2F7B-4E30-9762-D4F95B075DE4}"/>
              </a:ext>
            </a:extLst>
          </p:cNvPr>
          <p:cNvSpPr>
            <a:spLocks xmlns:a="http://schemas.openxmlformats.org/drawingml/2006/main" noGrp="1"/>
          </p:cNvSpPr>
          <p:nvPr/>
        </p:nvSpPr>
        <p:spPr>
          <a:xfrm xmlns:a="http://schemas.openxmlformats.org/drawingml/2006/main">
            <a:off x="5810250" y="43815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경로·사건·이름 검사 후 실패 시 원문 복구</a:t>
            </a:r>
          </a:p>
        </p:txBody>
      </p:sp>
      <p:sp>
        <p:nvSpPr>
          <p:cNvPr id="17" name="">
            <a:extLst xmlns:a="http://schemas.openxmlformats.org/drawingml/2006/main">
              <a:ext uri="{FF2B5EF4-FFF2-40B4-BE49-F238E27FC236}">
                <a16:creationId xmlns:a16="http://schemas.microsoft.com/office/drawing/2014/main" id="{061924AD-FE0E-4321-B352-8CFDC8B6305B}"/>
              </a:ext>
            </a:extLst>
          </p:cNvPr>
          <p:cNvSpPr>
            <a:spLocks xmlns:a="http://schemas.openxmlformats.org/drawingml/2006/main" noGrp="1"/>
          </p:cNvSpPr>
          <p:nvPr/>
        </p:nvSpPr>
        <p:spPr>
          <a:xfrm xmlns:a="http://schemas.openxmlformats.org/drawingml/2006/main">
            <a:off x="5334000" y="48577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3</a:t>
            </a:r>
          </a:p>
        </p:txBody>
      </p:sp>
      <p:sp>
        <p:nvSpPr>
          <p:cNvPr id="18" name="">
            <a:extLst xmlns:a="http://schemas.openxmlformats.org/drawingml/2006/main">
              <a:ext uri="{FF2B5EF4-FFF2-40B4-BE49-F238E27FC236}">
                <a16:creationId xmlns:a16="http://schemas.microsoft.com/office/drawing/2014/main" id="{1287ADCA-10EC-4E10-B923-243CD496783D}"/>
              </a:ext>
            </a:extLst>
          </p:cNvPr>
          <p:cNvSpPr>
            <a:spLocks xmlns:a="http://schemas.openxmlformats.org/drawingml/2006/main" noGrp="1"/>
          </p:cNvSpPr>
          <p:nvPr/>
        </p:nvSpPr>
        <p:spPr>
          <a:xfrm xmlns:a="http://schemas.openxmlformats.org/drawingml/2006/main">
            <a:off x="5810250" y="48387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메인 사건과 일상 대화를 분리해 파인튜닝</a:t>
            </a:r>
          </a:p>
        </p:txBody>
      </p:sp>
      <p:sp>
        <p:nvSpPr>
          <p:cNvPr id="19" name="">
            <a:extLst xmlns:a="http://schemas.openxmlformats.org/drawingml/2006/main">
              <a:ext uri="{FF2B5EF4-FFF2-40B4-BE49-F238E27FC236}">
                <a16:creationId xmlns:a16="http://schemas.microsoft.com/office/drawing/2014/main" id="{F1D38A0A-81C1-4471-9AAC-713DBEFE9B97}"/>
              </a:ext>
            </a:extLst>
          </p:cNvPr>
          <p:cNvSpPr>
            <a:spLocks xmlns:a="http://schemas.openxmlformats.org/drawingml/2006/main" noGrp="1"/>
          </p:cNvSpPr>
          <p:nvPr/>
        </p:nvSpPr>
        <p:spPr>
          <a:xfrm xmlns:a="http://schemas.openxmlformats.org/drawingml/2006/main">
            <a:off x="5334000" y="53149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4</a:t>
            </a:r>
          </a:p>
        </p:txBody>
      </p:sp>
      <p:sp>
        <p:nvSpPr>
          <p:cNvPr id="20" name="">
            <a:extLst xmlns:a="http://schemas.openxmlformats.org/drawingml/2006/main">
              <a:ext uri="{FF2B5EF4-FFF2-40B4-BE49-F238E27FC236}">
                <a16:creationId xmlns:a16="http://schemas.microsoft.com/office/drawing/2014/main" id="{75D5505E-27FD-49E0-BE0B-338B109E265B}"/>
              </a:ext>
            </a:extLst>
          </p:cNvPr>
          <p:cNvSpPr>
            <a:spLocks xmlns:a="http://schemas.openxmlformats.org/drawingml/2006/main" noGrp="1"/>
          </p:cNvSpPr>
          <p:nvPr/>
        </p:nvSpPr>
        <p:spPr>
          <a:xfrm xmlns:a="http://schemas.openxmlformats.org/drawingml/2006/main">
            <a:off x="5810250" y="52959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생성 결과를 terrain과 미니게임 데이터에 연결</a:t>
            </a:r>
          </a:p>
        </p:txBody>
      </p:sp>
      <p:sp>
        <p:nvSpPr>
          <p:cNvPr id="21" name="">
            <a:extLst xmlns:a="http://schemas.openxmlformats.org/drawingml/2006/main">
              <a:ext uri="{FF2B5EF4-FFF2-40B4-BE49-F238E27FC236}">
                <a16:creationId xmlns:a16="http://schemas.microsoft.com/office/drawing/2014/main" id="{587BC8A3-CCD8-4DD4-BDE7-ED7ED443940F}"/>
              </a:ext>
            </a:extLst>
          </p:cNvPr>
          <p:cNvSpPr>
            <a:spLocks xmlns:a="http://schemas.openxmlformats.org/drawingml/2006/main" noGrp="1"/>
          </p:cNvSpPr>
          <p:nvPr/>
        </p:nvSpPr>
        <p:spPr>
          <a:xfrm xmlns:a="http://schemas.openxmlformats.org/drawingml/2006/main">
            <a:off x="723900" y="600075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차별점은 자유 생성이 아니라, 게임 규칙 안에서 안전하게 변화하는 한국어 서사입니다.</a:t>
            </a:r>
          </a:p>
        </p:txBody>
      </p:sp>
    </p:spTree>
    <p:extLst>
      <p:ext uri="{BB962C8B-B14F-4D97-AF65-F5344CB8AC3E}">
        <p14:creationId xmlns:p14="http://schemas.microsoft.com/office/powerpoint/2010/main" val="70294381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D17B74B-2C9B-43AE-9227-9E5832E1B43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D9A05E75-9E89-4CFF-9894-1DDD10C5031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7548786E-33F6-4638-ADD8-8A3DA8BAC8F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DE1C36-E455-4979-8ECB-341D5D1B55D1}"/>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7BE7CE0A-47D8-40C3-B3BF-82A03BD278EC}"/>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내장 LLM</a:t>
            </a:r>
          </a:p>
        </p:txBody>
      </p:sp>
      <p:sp>
        <p:nvSpPr>
          <p:cNvPr id="6" name="">
            <a:extLst xmlns:a="http://schemas.openxmlformats.org/drawingml/2006/main">
              <a:ext uri="{FF2B5EF4-FFF2-40B4-BE49-F238E27FC236}">
                <a16:creationId xmlns:a16="http://schemas.microsoft.com/office/drawing/2014/main" id="{F5EC05B7-6D37-45C2-81F1-4068456A4A49}"/>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Kanana 2 1.3B 4-bit 로컬 실행</a:t>
            </a:r>
          </a:p>
        </p:txBody>
      </p:sp>
      <p:sp>
        <p:nvSpPr>
          <p:cNvPr id="7" name="">
            <a:extLst xmlns:a="http://schemas.openxmlformats.org/drawingml/2006/main">
              <a:ext uri="{FF2B5EF4-FFF2-40B4-BE49-F238E27FC236}">
                <a16:creationId xmlns:a16="http://schemas.microsoft.com/office/drawing/2014/main" id="{7DA8D63F-E2E0-4944-9751-6572CEE4FC99}"/>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EE7CB9-A47E-4E5D-BFFE-4C7A0F2D0D47}"/>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84A062F9-3E58-463E-B1DF-FA5D749D9429}"/>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이야기 검증</a:t>
            </a:r>
          </a:p>
        </p:txBody>
      </p:sp>
      <p:sp>
        <p:nvSpPr>
          <p:cNvPr id="10" name="">
            <a:extLst xmlns:a="http://schemas.openxmlformats.org/drawingml/2006/main">
              <a:ext uri="{FF2B5EF4-FFF2-40B4-BE49-F238E27FC236}">
                <a16:creationId xmlns:a16="http://schemas.microsoft.com/office/drawing/2014/main" id="{3068387B-BFFC-4974-8B68-E4EAC72D54E4}"/>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수정 범위와 핵심 사건을 보호</a:t>
            </a:r>
          </a:p>
        </p:txBody>
      </p:sp>
      <p:sp>
        <p:nvSpPr>
          <p:cNvPr id="11" name="">
            <a:extLst xmlns:a="http://schemas.openxmlformats.org/drawingml/2006/main">
              <a:ext uri="{FF2B5EF4-FFF2-40B4-BE49-F238E27FC236}">
                <a16:creationId xmlns:a16="http://schemas.microsoft.com/office/drawing/2014/main" id="{388ABE21-362B-417B-A470-21DC8D48B69C}"/>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8F2397-F5B0-45A5-BE3B-477C9F10D135}"/>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B60E292B-3D4E-4ABD-BFCE-6828EBC04B25}"/>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terrain 데이터</a:t>
            </a:r>
          </a:p>
        </p:txBody>
      </p:sp>
      <p:sp>
        <p:nvSpPr>
          <p:cNvPr id="14" name="">
            <a:extLst xmlns:a="http://schemas.openxmlformats.org/drawingml/2006/main">
              <a:ext uri="{FF2B5EF4-FFF2-40B4-BE49-F238E27FC236}">
                <a16:creationId xmlns:a16="http://schemas.microsoft.com/office/drawing/2014/main" id="{2CC7AEF1-94B3-4A94-92C8-C7D563646798}"/>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Excel과 JSON으로 환경·사건 관리</a:t>
            </a:r>
          </a:p>
        </p:txBody>
      </p:sp>
      <p:sp>
        <p:nvSpPr>
          <p:cNvPr id="15" name="">
            <a:extLst xmlns:a="http://schemas.openxmlformats.org/drawingml/2006/main">
              <a:ext uri="{FF2B5EF4-FFF2-40B4-BE49-F238E27FC236}">
                <a16:creationId xmlns:a16="http://schemas.microsoft.com/office/drawing/2014/main" id="{F4EC943E-E2B7-453E-8A3D-8C4AC60659B2}"/>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19A0F0D-2C94-4C2F-A778-C2D9B0CA3A2D}"/>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5977AA5B-B291-45E9-A303-E6922FDD188D}"/>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미니게임 연동</a:t>
            </a:r>
          </a:p>
        </p:txBody>
      </p:sp>
      <p:sp>
        <p:nvSpPr>
          <p:cNvPr id="18" name="">
            <a:extLst xmlns:a="http://schemas.openxmlformats.org/drawingml/2006/main">
              <a:ext uri="{FF2B5EF4-FFF2-40B4-BE49-F238E27FC236}">
                <a16:creationId xmlns:a16="http://schemas.microsoft.com/office/drawing/2014/main" id="{A2B07076-D16F-4F95-B7EC-17B49DF9FE12}"/>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결과를 보상·해금·후속 이야기로 연결</a:t>
            </a:r>
          </a:p>
        </p:txBody>
      </p:sp>
      <p:sp>
        <p:nvSpPr>
          <p:cNvPr id="19" name="">
            <a:extLst xmlns:a="http://schemas.openxmlformats.org/drawingml/2006/main">
              <a:ext uri="{FF2B5EF4-FFF2-40B4-BE49-F238E27FC236}">
                <a16:creationId xmlns:a16="http://schemas.microsoft.com/office/drawing/2014/main" id="{CB0D219B-2E50-47DB-8737-72568FE8D266}"/>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기존 선택형 스토리와 저장 구조를 유지하면서 새 콘텐츠를 데이터로 확장합니다.</a:t>
            </a:r>
          </a:p>
        </p:txBody>
      </p:sp>
    </p:spTree>
    <p:extLst>
      <p:ext uri="{BB962C8B-B14F-4D97-AF65-F5344CB8AC3E}">
        <p14:creationId xmlns:p14="http://schemas.microsoft.com/office/powerpoint/2010/main" val="1572635473"/>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19AA6D9-DF53-4055-A9D5-FA6B0C966AA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22A499DC-FF1D-4C1D-BE86-D95A8BB715EC}"/>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8527DC77-09B6-4977-AAFA-0AAB72FBC67C}"/>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92BA1F-4A9D-4696-9E52-2F34853FA05C}"/>
              </a:ext>
            </a:extLst>
          </p:cNvPr>
          <p:cNvSpPr>
            <a:spLocks xmlns:a="http://schemas.openxmlformats.org/drawingml/2006/main" noGrp="1"/>
          </p:cNvSpPr>
          <p:nvPr/>
        </p:nvSpPr>
        <p:spPr>
          <a:xfrm xmlns:a="http://schemas.openxmlformats.org/drawingml/2006/main">
            <a:off x="51435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1DE7E454-2F85-44FA-8DB0-0B140B6829A0}"/>
              </a:ext>
            </a:extLst>
          </p:cNvPr>
          <p:cNvSpPr>
            <a:spLocks xmlns:a="http://schemas.openxmlformats.org/drawingml/2006/main" noGrp="1"/>
          </p:cNvSpPr>
          <p:nvPr/>
        </p:nvSpPr>
        <p:spPr>
          <a:xfrm xmlns:a="http://schemas.openxmlformats.org/drawingml/2006/main">
            <a:off x="51435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기획</a:t>
            </a:r>
          </a:p>
        </p:txBody>
      </p:sp>
      <p:sp>
        <p:nvSpPr>
          <p:cNvPr id="6" name="">
            <a:extLst xmlns:a="http://schemas.openxmlformats.org/drawingml/2006/main">
              <a:ext uri="{FF2B5EF4-FFF2-40B4-BE49-F238E27FC236}">
                <a16:creationId xmlns:a16="http://schemas.microsoft.com/office/drawing/2014/main" id="{AE1DF202-FFE4-4C55-9C2B-53DBCA71798A}"/>
              </a:ext>
            </a:extLst>
          </p:cNvPr>
          <p:cNvSpPr>
            <a:spLocks xmlns:a="http://schemas.openxmlformats.org/drawingml/2006/main" noGrp="1"/>
          </p:cNvSpPr>
          <p:nvPr/>
        </p:nvSpPr>
        <p:spPr>
          <a:xfrm xmlns:a="http://schemas.openxmlformats.org/drawingml/2006/main">
            <a:off x="5143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Excel</a:t>
            </a:r>
          </a:p>
        </p:txBody>
      </p:sp>
      <p:sp>
        <p:nvSpPr>
          <p:cNvPr id="7" name="">
            <a:extLst xmlns:a="http://schemas.openxmlformats.org/drawingml/2006/main">
              <a:ext uri="{FF2B5EF4-FFF2-40B4-BE49-F238E27FC236}">
                <a16:creationId xmlns:a16="http://schemas.microsoft.com/office/drawing/2014/main" id="{6E09AEB2-F96F-4804-9025-C2C7407D9CA4}"/>
              </a:ext>
            </a:extLst>
          </p:cNvPr>
          <p:cNvSpPr>
            <a:spLocks xmlns:a="http://schemas.openxmlformats.org/drawingml/2006/main" noGrp="1"/>
          </p:cNvSpPr>
          <p:nvPr/>
        </p:nvSpPr>
        <p:spPr>
          <a:xfrm xmlns:a="http://schemas.openxmlformats.org/drawingml/2006/main">
            <a:off x="51435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terrain·이야기·퀘스트</a:t>
            </a:r>
          </a:p>
        </p:txBody>
      </p:sp>
      <p:sp>
        <p:nvSpPr>
          <p:cNvPr id="8" name="">
            <a:extLst xmlns:a="http://schemas.openxmlformats.org/drawingml/2006/main">
              <a:ext uri="{FF2B5EF4-FFF2-40B4-BE49-F238E27FC236}">
                <a16:creationId xmlns:a16="http://schemas.microsoft.com/office/drawing/2014/main" id="{52547FAF-9EDD-4501-A814-FAE7CFDC3EAA}"/>
              </a:ext>
            </a:extLst>
          </p:cNvPr>
          <p:cNvSpPr>
            <a:spLocks xmlns:a="http://schemas.openxmlformats.org/drawingml/2006/main" noGrp="1"/>
          </p:cNvSpPr>
          <p:nvPr/>
        </p:nvSpPr>
        <p:spPr>
          <a:xfrm xmlns:a="http://schemas.openxmlformats.org/drawingml/2006/main">
            <a:off x="31432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42D836D-BF50-4EC6-96FF-486CB451B29D}"/>
              </a:ext>
            </a:extLst>
          </p:cNvPr>
          <p:cNvSpPr>
            <a:spLocks xmlns:a="http://schemas.openxmlformats.org/drawingml/2006/main" noGrp="1"/>
          </p:cNvSpPr>
          <p:nvPr/>
        </p:nvSpPr>
        <p:spPr>
          <a:xfrm xmlns:a="http://schemas.openxmlformats.org/drawingml/2006/main">
            <a:off x="342900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3870BAB6-D88C-486B-98D6-69F686F4D047}"/>
              </a:ext>
            </a:extLst>
          </p:cNvPr>
          <p:cNvSpPr>
            <a:spLocks xmlns:a="http://schemas.openxmlformats.org/drawingml/2006/main" noGrp="1"/>
          </p:cNvSpPr>
          <p:nvPr/>
        </p:nvSpPr>
        <p:spPr>
          <a:xfrm xmlns:a="http://schemas.openxmlformats.org/drawingml/2006/main">
            <a:off x="342900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실행 데이터</a:t>
            </a:r>
          </a:p>
        </p:txBody>
      </p:sp>
      <p:sp>
        <p:nvSpPr>
          <p:cNvPr id="11" name="">
            <a:extLst xmlns:a="http://schemas.openxmlformats.org/drawingml/2006/main">
              <a:ext uri="{FF2B5EF4-FFF2-40B4-BE49-F238E27FC236}">
                <a16:creationId xmlns:a16="http://schemas.microsoft.com/office/drawing/2014/main" id="{C1CA7D07-2149-43D5-AE3C-AE1A65168E6E}"/>
              </a:ext>
            </a:extLst>
          </p:cNvPr>
          <p:cNvSpPr>
            <a:spLocks xmlns:a="http://schemas.openxmlformats.org/drawingml/2006/main" noGrp="1"/>
          </p:cNvSpPr>
          <p:nvPr/>
        </p:nvSpPr>
        <p:spPr>
          <a:xfrm xmlns:a="http://schemas.openxmlformats.org/drawingml/2006/main">
            <a:off x="342900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JSON Schema</a:t>
            </a:r>
          </a:p>
        </p:txBody>
      </p:sp>
      <p:sp>
        <p:nvSpPr>
          <p:cNvPr id="12" name="">
            <a:extLst xmlns:a="http://schemas.openxmlformats.org/drawingml/2006/main">
              <a:ext uri="{FF2B5EF4-FFF2-40B4-BE49-F238E27FC236}">
                <a16:creationId xmlns:a16="http://schemas.microsoft.com/office/drawing/2014/main" id="{DFE029BD-CA59-4475-A758-DDA05055D6E8}"/>
              </a:ext>
            </a:extLst>
          </p:cNvPr>
          <p:cNvSpPr>
            <a:spLocks xmlns:a="http://schemas.openxmlformats.org/drawingml/2006/main" noGrp="1"/>
          </p:cNvSpPr>
          <p:nvPr/>
        </p:nvSpPr>
        <p:spPr>
          <a:xfrm xmlns:a="http://schemas.openxmlformats.org/drawingml/2006/main">
            <a:off x="342900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ID·경로·조건 검사</a:t>
            </a:r>
          </a:p>
        </p:txBody>
      </p:sp>
      <p:sp>
        <p:nvSpPr>
          <p:cNvPr id="13" name="">
            <a:extLst xmlns:a="http://schemas.openxmlformats.org/drawingml/2006/main">
              <a:ext uri="{FF2B5EF4-FFF2-40B4-BE49-F238E27FC236}">
                <a16:creationId xmlns:a16="http://schemas.microsoft.com/office/drawing/2014/main" id="{0571F8DB-C495-4BD5-BCD6-F28F72190B43}"/>
              </a:ext>
            </a:extLst>
          </p:cNvPr>
          <p:cNvSpPr>
            <a:spLocks xmlns:a="http://schemas.openxmlformats.org/drawingml/2006/main" noGrp="1"/>
          </p:cNvSpPr>
          <p:nvPr/>
        </p:nvSpPr>
        <p:spPr>
          <a:xfrm xmlns:a="http://schemas.openxmlformats.org/drawingml/2006/main">
            <a:off x="605790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A92380-D933-418D-B8D2-2A7C74F8FDED}"/>
              </a:ext>
            </a:extLst>
          </p:cNvPr>
          <p:cNvSpPr>
            <a:spLocks xmlns:a="http://schemas.openxmlformats.org/drawingml/2006/main" noGrp="1"/>
          </p:cNvSpPr>
          <p:nvPr/>
        </p:nvSpPr>
        <p:spPr>
          <a:xfrm xmlns:a="http://schemas.openxmlformats.org/drawingml/2006/main">
            <a:off x="634365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1C042DBC-7738-4B7C-957D-2A21CDF3468A}"/>
              </a:ext>
            </a:extLst>
          </p:cNvPr>
          <p:cNvSpPr>
            <a:spLocks xmlns:a="http://schemas.openxmlformats.org/drawingml/2006/main" noGrp="1"/>
          </p:cNvSpPr>
          <p:nvPr/>
        </p:nvSpPr>
        <p:spPr>
          <a:xfrm xmlns:a="http://schemas.openxmlformats.org/drawingml/2006/main">
            <a:off x="634365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이야기 변화</a:t>
            </a:r>
          </a:p>
        </p:txBody>
      </p:sp>
      <p:sp>
        <p:nvSpPr>
          <p:cNvPr id="16" name="">
            <a:extLst xmlns:a="http://schemas.openxmlformats.org/drawingml/2006/main">
              <a:ext uri="{FF2B5EF4-FFF2-40B4-BE49-F238E27FC236}">
                <a16:creationId xmlns:a16="http://schemas.microsoft.com/office/drawing/2014/main" id="{A4688604-A055-4090-A365-14E68C62495E}"/>
              </a:ext>
            </a:extLst>
          </p:cNvPr>
          <p:cNvSpPr>
            <a:spLocks xmlns:a="http://schemas.openxmlformats.org/drawingml/2006/main" noGrp="1"/>
          </p:cNvSpPr>
          <p:nvPr/>
        </p:nvSpPr>
        <p:spPr>
          <a:xfrm xmlns:a="http://schemas.openxmlformats.org/drawingml/2006/main">
            <a:off x="63436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Kanana·Transformers</a:t>
            </a:r>
          </a:p>
        </p:txBody>
      </p:sp>
      <p:sp>
        <p:nvSpPr>
          <p:cNvPr id="17" name="">
            <a:extLst xmlns:a="http://schemas.openxmlformats.org/drawingml/2006/main">
              <a:ext uri="{FF2B5EF4-FFF2-40B4-BE49-F238E27FC236}">
                <a16:creationId xmlns:a16="http://schemas.microsoft.com/office/drawing/2014/main" id="{96FC3FA3-880B-4C69-B898-92599E4F3B09}"/>
              </a:ext>
            </a:extLst>
          </p:cNvPr>
          <p:cNvSpPr>
            <a:spLocks xmlns:a="http://schemas.openxmlformats.org/drawingml/2006/main" noGrp="1"/>
          </p:cNvSpPr>
          <p:nvPr/>
        </p:nvSpPr>
        <p:spPr>
          <a:xfrm xmlns:a="http://schemas.openxmlformats.org/drawingml/2006/main">
            <a:off x="634365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로컬 생성과 재시도</a:t>
            </a:r>
          </a:p>
        </p:txBody>
      </p:sp>
      <p:sp>
        <p:nvSpPr>
          <p:cNvPr id="18" name="">
            <a:extLst xmlns:a="http://schemas.openxmlformats.org/drawingml/2006/main">
              <a:ext uri="{FF2B5EF4-FFF2-40B4-BE49-F238E27FC236}">
                <a16:creationId xmlns:a16="http://schemas.microsoft.com/office/drawing/2014/main" id="{B423C517-8D00-4B55-81B0-901AF3C57CEA}"/>
              </a:ext>
            </a:extLst>
          </p:cNvPr>
          <p:cNvSpPr>
            <a:spLocks xmlns:a="http://schemas.openxmlformats.org/drawingml/2006/main" noGrp="1"/>
          </p:cNvSpPr>
          <p:nvPr/>
        </p:nvSpPr>
        <p:spPr>
          <a:xfrm xmlns:a="http://schemas.openxmlformats.org/drawingml/2006/main">
            <a:off x="89725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B7DFC8-40F0-4D0C-BBF9-ABC9550E8CFD}"/>
              </a:ext>
            </a:extLst>
          </p:cNvPr>
          <p:cNvSpPr>
            <a:spLocks xmlns:a="http://schemas.openxmlformats.org/drawingml/2006/main" noGrp="1"/>
          </p:cNvSpPr>
          <p:nvPr/>
        </p:nvSpPr>
        <p:spPr>
          <a:xfrm xmlns:a="http://schemas.openxmlformats.org/drawingml/2006/main">
            <a:off x="925830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D9854F"/>
                </a:solidFill>
                <a:latin typeface="Noto Sans KR"/>
                <a:ea typeface="Noto Sans KR"/>
                <a:cs typeface="Noto Sans KR"/>
              </a:defRPr>
            </a:pPr>
            <a:r>
              <a:rPr sz="1950" b="1">
                <a:solidFill>
                  <a:srgbClr val="D9854F"/>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2E980C11-18C8-488F-B0F6-01196CEA1028}"/>
              </a:ext>
            </a:extLst>
          </p:cNvPr>
          <p:cNvSpPr>
            <a:spLocks xmlns:a="http://schemas.openxmlformats.org/drawingml/2006/main" noGrp="1"/>
          </p:cNvSpPr>
          <p:nvPr/>
        </p:nvSpPr>
        <p:spPr>
          <a:xfrm xmlns:a="http://schemas.openxmlformats.org/drawingml/2006/main">
            <a:off x="925830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반영</a:t>
            </a:r>
          </a:p>
        </p:txBody>
      </p:sp>
      <p:sp>
        <p:nvSpPr>
          <p:cNvPr id="21" name="">
            <a:extLst xmlns:a="http://schemas.openxmlformats.org/drawingml/2006/main">
              <a:ext uri="{FF2B5EF4-FFF2-40B4-BE49-F238E27FC236}">
                <a16:creationId xmlns:a16="http://schemas.microsoft.com/office/drawing/2014/main" id="{2CFBEF80-DC2F-434D-89F5-7AB30579B5F3}"/>
              </a:ext>
            </a:extLst>
          </p:cNvPr>
          <p:cNvSpPr>
            <a:spLocks xmlns:a="http://schemas.openxmlformats.org/drawingml/2006/main" noGrp="1"/>
          </p:cNvSpPr>
          <p:nvPr/>
        </p:nvSpPr>
        <p:spPr>
          <a:xfrm xmlns:a="http://schemas.openxmlformats.org/drawingml/2006/main">
            <a:off x="925830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Unity·C#·prefab</a:t>
            </a:r>
          </a:p>
        </p:txBody>
      </p:sp>
      <p:sp>
        <p:nvSpPr>
          <p:cNvPr id="22" name="">
            <a:extLst xmlns:a="http://schemas.openxmlformats.org/drawingml/2006/main">
              <a:ext uri="{FF2B5EF4-FFF2-40B4-BE49-F238E27FC236}">
                <a16:creationId xmlns:a16="http://schemas.microsoft.com/office/drawing/2014/main" id="{BB773E26-530C-4E47-8FD2-92CC34D23040}"/>
              </a:ext>
            </a:extLst>
          </p:cNvPr>
          <p:cNvSpPr>
            <a:spLocks xmlns:a="http://schemas.openxmlformats.org/drawingml/2006/main" noGrp="1"/>
          </p:cNvSpPr>
          <p:nvPr/>
        </p:nvSpPr>
        <p:spPr>
          <a:xfrm xmlns:a="http://schemas.openxmlformats.org/drawingml/2006/main">
            <a:off x="925830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환경·대화·미니게임</a:t>
            </a:r>
          </a:p>
        </p:txBody>
      </p:sp>
      <p:sp>
        <p:nvSpPr>
          <p:cNvPr id="23" name="">
            <a:extLst xmlns:a="http://schemas.openxmlformats.org/drawingml/2006/main">
              <a:ext uri="{FF2B5EF4-FFF2-40B4-BE49-F238E27FC236}">
                <a16:creationId xmlns:a16="http://schemas.microsoft.com/office/drawing/2014/main" id="{1B4B6076-AA35-4621-82E7-81710536231C}"/>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A3931F5-A3C0-4D73-A69F-B4B217BA0A27}"/>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25" name="">
            <a:extLst xmlns:a="http://schemas.openxmlformats.org/drawingml/2006/main">
              <a:ext uri="{FF2B5EF4-FFF2-40B4-BE49-F238E27FC236}">
                <a16:creationId xmlns:a16="http://schemas.microsoft.com/office/drawing/2014/main" id="{CA0387EE-A1DE-41FE-BF51-E14E2F77D7E1}"/>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AI</a:t>
            </a:r>
          </a:p>
        </p:txBody>
      </p:sp>
      <p:sp>
        <p:nvSpPr>
          <p:cNvPr id="26" name="">
            <a:extLst xmlns:a="http://schemas.openxmlformats.org/drawingml/2006/main">
              <a:ext uri="{FF2B5EF4-FFF2-40B4-BE49-F238E27FC236}">
                <a16:creationId xmlns:a16="http://schemas.microsoft.com/office/drawing/2014/main" id="{57AA0A3A-FE19-429E-ACF8-70D4AA49B30C}"/>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PyTorch, 4-bit 양자화, LoRA</a:t>
            </a:r>
          </a:p>
        </p:txBody>
      </p:sp>
      <p:sp>
        <p:nvSpPr>
          <p:cNvPr id="27" name="">
            <a:extLst xmlns:a="http://schemas.openxmlformats.org/drawingml/2006/main">
              <a:ext uri="{FF2B5EF4-FFF2-40B4-BE49-F238E27FC236}">
                <a16:creationId xmlns:a16="http://schemas.microsoft.com/office/drawing/2014/main" id="{0E4F6BEA-7818-4864-B36B-CBC3A34EEFA4}"/>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28" name="">
            <a:extLst xmlns:a="http://schemas.openxmlformats.org/drawingml/2006/main">
              <a:ext uri="{FF2B5EF4-FFF2-40B4-BE49-F238E27FC236}">
                <a16:creationId xmlns:a16="http://schemas.microsoft.com/office/drawing/2014/main" id="{66D659CE-20A8-4C8F-8721-6F477376DB9F}"/>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Python, JSON Schema, 자동 테스트</a:t>
            </a:r>
          </a:p>
        </p:txBody>
      </p:sp>
      <p:sp>
        <p:nvSpPr>
          <p:cNvPr id="29" name="">
            <a:extLst xmlns:a="http://schemas.openxmlformats.org/drawingml/2006/main">
              <a:ext uri="{FF2B5EF4-FFF2-40B4-BE49-F238E27FC236}">
                <a16:creationId xmlns:a16="http://schemas.microsoft.com/office/drawing/2014/main" id="{A080B803-5EE2-4FD9-AB72-A11B950FD852}"/>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0" name="">
            <a:extLst xmlns:a="http://schemas.openxmlformats.org/drawingml/2006/main">
              <a:ext uri="{FF2B5EF4-FFF2-40B4-BE49-F238E27FC236}">
                <a16:creationId xmlns:a16="http://schemas.microsoft.com/office/drawing/2014/main" id="{BB4C31F1-8733-44B7-B387-6D4062B4E26D}"/>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skill</a:t>
            </a:r>
          </a:p>
        </p:txBody>
      </p:sp>
      <p:sp>
        <p:nvSpPr>
          <p:cNvPr id="31" name="">
            <a:extLst xmlns:a="http://schemas.openxmlformats.org/drawingml/2006/main">
              <a:ext uri="{FF2B5EF4-FFF2-40B4-BE49-F238E27FC236}">
                <a16:creationId xmlns:a16="http://schemas.microsoft.com/office/drawing/2014/main" id="{C97F9322-4CE9-49A6-A677-A0E0A5FAE06F}"/>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협업</a:t>
            </a:r>
          </a:p>
        </p:txBody>
      </p:sp>
      <p:sp>
        <p:nvSpPr>
          <p:cNvPr id="32" name="">
            <a:extLst xmlns:a="http://schemas.openxmlformats.org/drawingml/2006/main">
              <a:ext uri="{FF2B5EF4-FFF2-40B4-BE49-F238E27FC236}">
                <a16:creationId xmlns:a16="http://schemas.microsoft.com/office/drawing/2014/main" id="{CAB82746-59D4-4102-A48B-7DDAAD270467}"/>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Git, GitHub Desktop</a:t>
            </a:r>
          </a:p>
        </p:txBody>
      </p:sp>
      <p:sp>
        <p:nvSpPr>
          <p:cNvPr id="33" name="">
            <a:extLst xmlns:a="http://schemas.openxmlformats.org/drawingml/2006/main">
              <a:ext uri="{FF2B5EF4-FFF2-40B4-BE49-F238E27FC236}">
                <a16:creationId xmlns:a16="http://schemas.microsoft.com/office/drawing/2014/main" id="{D5751491-9B0A-43EB-9461-AA4830373E33}"/>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데이터를 먼저 검증한 뒤 Unity에 반영해 새 terrain과 미니게임을 반복해서 추가합니다.</a:t>
            </a:r>
          </a:p>
        </p:txBody>
      </p:sp>
    </p:spTree>
    <p:extLst>
      <p:ext uri="{BB962C8B-B14F-4D97-AF65-F5344CB8AC3E}">
        <p14:creationId xmlns:p14="http://schemas.microsoft.com/office/powerpoint/2010/main" val="190906036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B9F53D5-6B25-4368-B787-B6B3F4EC9BF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71F2B223-4DF3-4F24-A8D6-C6F5D1B0251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634D563E-7486-4C63-8DB6-4B8324FF5F57}"/>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1A8E98-D836-44BF-AB75-34292E4435CC}"/>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AFBD6B33-E032-4019-80CF-8E59CABF1CF5}"/>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B1ADA13A-CE90-473E-A828-217FB660ECA1}"/>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7" name="">
            <a:extLst xmlns:a="http://schemas.openxmlformats.org/drawingml/2006/main">
              <a:ext uri="{FF2B5EF4-FFF2-40B4-BE49-F238E27FC236}">
                <a16:creationId xmlns:a16="http://schemas.microsoft.com/office/drawing/2014/main" id="{0E691942-C5F9-4AD1-90DF-4F88426F346F}"/>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문맥이 자연스럽고 정해진 루트와 핵심 사건을 유지</a:t>
            </a:r>
          </a:p>
        </p:txBody>
      </p:sp>
      <p:sp>
        <p:nvSpPr>
          <p:cNvPr id="8" name="">
            <a:extLst xmlns:a="http://schemas.openxmlformats.org/drawingml/2006/main">
              <a:ext uri="{FF2B5EF4-FFF2-40B4-BE49-F238E27FC236}">
                <a16:creationId xmlns:a16="http://schemas.microsoft.com/office/drawing/2014/main" id="{3C1B5E54-AC36-41A2-B47F-DB2FB6A7A720}"/>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6D2CC1EE-A7D9-482E-B733-29A51E1D9B98}"/>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미니게임</a:t>
            </a:r>
          </a:p>
        </p:txBody>
      </p:sp>
      <p:sp>
        <p:nvSpPr>
          <p:cNvPr id="10" name="">
            <a:extLst xmlns:a="http://schemas.openxmlformats.org/drawingml/2006/main">
              <a:ext uri="{FF2B5EF4-FFF2-40B4-BE49-F238E27FC236}">
                <a16:creationId xmlns:a16="http://schemas.microsoft.com/office/drawing/2014/main" id="{DA994EBC-2F8B-43E1-A7B6-DB6D0ED18996}"/>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상황에 맞는 종류가 실행되고 성공·실패 결과를 반영</a:t>
            </a:r>
          </a:p>
        </p:txBody>
      </p:sp>
      <p:sp>
        <p:nvSpPr>
          <p:cNvPr id="11" name="">
            <a:extLst xmlns:a="http://schemas.openxmlformats.org/drawingml/2006/main">
              <a:ext uri="{FF2B5EF4-FFF2-40B4-BE49-F238E27FC236}">
                <a16:creationId xmlns:a16="http://schemas.microsoft.com/office/drawing/2014/main" id="{BBB0419D-5BE7-41AC-8658-F0772107D458}"/>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2E0134F2-15A1-4D66-85D7-39E13A33BC22}"/>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데이터</a:t>
            </a:r>
          </a:p>
        </p:txBody>
      </p:sp>
      <p:sp>
        <p:nvSpPr>
          <p:cNvPr id="13" name="">
            <a:extLst xmlns:a="http://schemas.openxmlformats.org/drawingml/2006/main">
              <a:ext uri="{FF2B5EF4-FFF2-40B4-BE49-F238E27FC236}">
                <a16:creationId xmlns:a16="http://schemas.microsoft.com/office/drawing/2014/main" id="{5E249911-DA67-4792-B056-A0588ACB050A}"/>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terrain·퀘스트·보상 ID가 연결되고 저장 후 동일하게 복원</a:t>
            </a:r>
          </a:p>
        </p:txBody>
      </p:sp>
      <p:sp>
        <p:nvSpPr>
          <p:cNvPr id="14" name="">
            <a:extLst xmlns:a="http://schemas.openxmlformats.org/drawingml/2006/main">
              <a:ext uri="{FF2B5EF4-FFF2-40B4-BE49-F238E27FC236}">
                <a16:creationId xmlns:a16="http://schemas.microsoft.com/office/drawing/2014/main" id="{51538FD2-5B47-4AC2-9410-3FA7396EDB25}"/>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609150A6-5722-49CC-80FB-F0BD6D796C5B}"/>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61E74067-1537-4CDC-AE89-58D37117DC85}"/>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로컬 LLM 로드와 응답이 플레이 흐름을 막지 않는 수준</a:t>
            </a:r>
          </a:p>
        </p:txBody>
      </p:sp>
      <p:sp>
        <p:nvSpPr>
          <p:cNvPr id="17" name="">
            <a:extLst xmlns:a="http://schemas.openxmlformats.org/drawingml/2006/main">
              <a:ext uri="{FF2B5EF4-FFF2-40B4-BE49-F238E27FC236}">
                <a16:creationId xmlns:a16="http://schemas.microsoft.com/office/drawing/2014/main" id="{11082B6D-C369-47E7-9712-BF099DD2917D}"/>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2DCCFD0B-A312-4986-9329-35161E90298B}"/>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0E6B386A-6A63-4223-ADA0-A909D50606B6}"/>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파서·품질 검사·재시도·원문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이 구조를 기준으로 이야기, terrain, 미니게임 순서로 기능을 넓혀 통합 위험을 줄입니다.</a:t>
            </a:r>
          </a:p>
        </p:txBody>
      </p:sp>
    </p:spTree>
    <p:extLst>
      <p:ext uri="{BB962C8B-B14F-4D97-AF65-F5344CB8AC3E}">
        <p14:creationId xmlns:p14="http://schemas.microsoft.com/office/powerpoint/2010/main" val="467280495"/>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28FFB9-8110-4C88-ADEF-C9F4F9801DF6}"/>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90D40F13-9BB4-464D-AEF4-76D7A56064F5}"/>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2B660EFC-C500-47EB-B36B-C56D4630A50C}"/>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057F74-4A31-481B-9B61-14F110E8FA56}"/>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0310E9B-0AA7-45FC-8755-2333C94F7049}"/>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894990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2026-09-27T09:21:37.0050000Z</dcterms:created>
  <dcterms:modified xsi:type="dcterms:W3CDTF">2026-09-27T09:21:37.0050000Z</dcterms:modified>
</coreProperties>
</file>