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dd923de4384eab" /><Relationship Type="http://schemas.openxmlformats.org/officeDocument/2006/relationships/extended-properties" Target="/docProps/app.xml" Id="R2caae40086c24eb8" /><Relationship Type="http://schemas.openxmlformats.org/officeDocument/2006/relationships/officeDocument" Target="/ppt/presentation.xml" Id="Rea3ec62492dd4b07" /></Relationships>
</file>

<file path=ppt/presentation.xml><?xml version="1.0" encoding="utf-8"?>
<p:presentation xmlns:p="http://schemas.openxmlformats.org/presentationml/2006/main">
  <p:sldMasterIdLst>
    <p:sldMasterId xmlns:r="http://schemas.openxmlformats.org/officeDocument/2006/relationships" id="2147483648" r:id="Re8233d61ca7e4015"/>
  </p:sldMasterIdLst>
  <p:notesMasterIdLst>
    <p:notesMasterId xmlns:r="http://schemas.openxmlformats.org/officeDocument/2006/relationships" r:id="Rca2994ff70ba4d24"/>
  </p:notesMasterIdLst>
  <p:sldIdLst>
    <p:sldId xmlns:r="http://schemas.openxmlformats.org/officeDocument/2006/relationships" id="256" r:id="R064355c66d9b42f7"/>
    <p:sldId xmlns:r="http://schemas.openxmlformats.org/officeDocument/2006/relationships" id="257" r:id="Rabba32c48d7a4c93"/>
    <p:sldId xmlns:r="http://schemas.openxmlformats.org/officeDocument/2006/relationships" id="258" r:id="R6fff6178fd7e4399"/>
    <p:sldId xmlns:r="http://schemas.openxmlformats.org/officeDocument/2006/relationships" id="259" r:id="R62245f4fa8a2414a"/>
    <p:sldId xmlns:r="http://schemas.openxmlformats.org/officeDocument/2006/relationships" id="260" r:id="R0220e2531ee445ae"/>
    <p:sldId xmlns:r="http://schemas.openxmlformats.org/officeDocument/2006/relationships" id="261" r:id="Re06e4ded8f994605"/>
    <p:sldId xmlns:r="http://schemas.openxmlformats.org/officeDocument/2006/relationships" id="262" r:id="R2748080a049b48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09053d4c574487" /><Relationship Type="http://schemas.openxmlformats.org/officeDocument/2006/relationships/slideMaster" Target="/ppt/slideMasters/slideMaster1.xml" Id="Re8233d61ca7e4015" /><Relationship Type="http://schemas.openxmlformats.org/officeDocument/2006/relationships/notesMaster" Target="/ppt/notesMasters/notesMaster1.xml" Id="Rca2994ff70ba4d24" /><Relationship Type="http://schemas.openxmlformats.org/officeDocument/2006/relationships/presProps" Target="/ppt/presProps.xml" Id="R9e4c8b4d57534f19" /><Relationship Type="http://schemas.openxmlformats.org/officeDocument/2006/relationships/tableStyles" Target="/ppt/tableStyles.xml" Id="R9246109bc2f64305" /><Relationship Type="http://schemas.openxmlformats.org/officeDocument/2006/relationships/slide" Target="/ppt/slides/slide1.xml" Id="R064355c66d9b42f7" /><Relationship Type="http://schemas.openxmlformats.org/officeDocument/2006/relationships/slide" Target="/ppt/slides/slide2.xml" Id="Rabba32c48d7a4c93" /><Relationship Type="http://schemas.openxmlformats.org/officeDocument/2006/relationships/slide" Target="/ppt/slides/slide3.xml" Id="R6fff6178fd7e4399" /><Relationship Type="http://schemas.openxmlformats.org/officeDocument/2006/relationships/slide" Target="/ppt/slides/slide4.xml" Id="R62245f4fa8a2414a" /><Relationship Type="http://schemas.openxmlformats.org/officeDocument/2006/relationships/slide" Target="/ppt/slides/slide5.xml" Id="R0220e2531ee445ae" /><Relationship Type="http://schemas.openxmlformats.org/officeDocument/2006/relationships/slide" Target="/ppt/slides/slide6.xml" Id="Re06e4ded8f994605" /><Relationship Type="http://schemas.openxmlformats.org/officeDocument/2006/relationships/slide" Target="/ppt/slides/slide7.xml" Id="R2748080a049b48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e2dc52fd0b47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30d35e2f4043df" /><Relationship Type="http://schemas.openxmlformats.org/officeDocument/2006/relationships/notesMaster" Target="/ppt/notesMasters/notesMaster1.xml" Id="Rd2eab1ebf44749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6c917bcbd54dad" /><Relationship Type="http://schemas.openxmlformats.org/officeDocument/2006/relationships/notesMaster" Target="/ppt/notesMasters/notesMaster1.xml" Id="R12d5f1c0838647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410e00d7664a49" /><Relationship Type="http://schemas.openxmlformats.org/officeDocument/2006/relationships/notesMaster" Target="/ppt/notesMasters/notesMaster1.xml" Id="Rcfcfa3afbfcd44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8036619ccc40b1" /><Relationship Type="http://schemas.openxmlformats.org/officeDocument/2006/relationships/notesMaster" Target="/ppt/notesMasters/notesMaster1.xml" Id="R366dc6aa38b241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74d99de7f74481" /><Relationship Type="http://schemas.openxmlformats.org/officeDocument/2006/relationships/notesMaster" Target="/ppt/notesMasters/notesMaster1.xml" Id="R722ce2c37cdf43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d6e4fe25fb468c" /><Relationship Type="http://schemas.openxmlformats.org/officeDocument/2006/relationships/notesMaster" Target="/ppt/notesMasters/notesMaster1.xml" Id="R9e5e4a74d9ae45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15e801e974480c" /><Relationship Type="http://schemas.openxmlformats.org/officeDocument/2006/relationships/notesMaster" Target="/ppt/notesMasters/notesMaster1.xml" Id="R6649a43c907849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첫 번째 이미지는 현재 구현 중인 게임의 대표 화면입니다. 플레이어는 terrain에서 인물과 대화하고, 선택을 통해 능력치를 관리합니다. 오른쪽 화면처럼 퀘스트와 미니게임을 수행하고 캐릭터 반응을 확인하면서 각 챕터의 전투를 준비합니다. 저는 이 흐름에서 이야기 변화, 환경 구성과 미니게임 결과의 연결을 구현합니다.</a:t>
            </a:r>
          </a:p>
          <a:p xmlns:a="http://schemas.openxmlformats.org/drawingml/2006/main">
            <a:r>
              <a:t>이미지 출처: 유영선 님이 제공한 실제 게임 캡처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Reigns와 저희 게임의 차이는 세 가지입니다. Reigns는 정해진 카드에서 좌우 선택을 하지만, 저희 게임은 선택과 이전 플레이 상태를 함께 반영합니다. Reigns의 이야기는 미리 작성된 카드와 해금 콘텐츠 중심이지만, 저희 게임은 허용된 문장을 로컬 한국어 LLM으로 변화시킵니다. 또한 카드 해금에 머물지 않고 terrain과 퀘스트, 미니게임 데이터까지 연결합니다. 현재 입력과 검증 방식이 부족하므로 JSON 입력, 주변 문맥, 후보 생성과 단계별 검사를 추가하겠습니다. 이후 매개변수 규모가 다른 Kanana 두 버전을 비교해 실행 환경과 품질에 맞는 모델을 적용하겠습니다.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업무는 네 단계입니다. 먼저 JSON 입력 형식과 변경 금지 항목을 정의합니다. 다음으로 매개변수 규모가 다른 Kanana 두 버전을 같은 데이터로 비교한 후, 실행 환경과 결과 품질에 맞는 모델을 적용하겠습니다. 규칙·의미·루트 검증과 원문 복구를 구현하고 검증된 결과만 게임에 반영하겠습니다.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파이댄틱과 JSON Schema로 입력을 먼저 검사합니다. 파이댄틱은 Python에서 필수 값과 데이터 형식이 맞는지 확인하고 오류를 알려 주는 입력 검증 도구입니다. 이후 후보 세 개를 생성하고 규칙·의미·루트 검사를 통과한 결과만 Unity에 반영합니다. 좋은 결과와 실패 이유는 이후 LoRA 학습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f3c342e7cd48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7bed9f520547ea" /><Relationship Type="http://schemas.openxmlformats.org/officeDocument/2006/relationships/slideLayout" Target="/ppt/slideLayouts/slideLayout1.xml" Id="R079fd51498304c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9fd51498304c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b7308d62d4481b" /><Relationship Type="http://schemas.openxmlformats.org/officeDocument/2006/relationships/notesSlide" Target="/ppt/notesSlides/notesSlide1.xml" Id="R6d8b5e33b29f48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937eb0ea124c15" /><Relationship Type="http://schemas.openxmlformats.org/officeDocument/2006/relationships/image" Target="/ppt/media/image.png" Id="Ra7256f72966e47a5" /><Relationship Type="http://schemas.openxmlformats.org/officeDocument/2006/relationships/image" Target="/ppt/media/image2.png" Id="Rf84f3661c39e47d1" /><Relationship Type="http://schemas.openxmlformats.org/officeDocument/2006/relationships/image" Target="/ppt/media/image3.png" Id="Rafeefe8a96c14783" /><Relationship Type="http://schemas.openxmlformats.org/officeDocument/2006/relationships/image" Target="/ppt/media/image4.png" Id="R8fa95b8593dc4899" /><Relationship Type="http://schemas.openxmlformats.org/officeDocument/2006/relationships/notesSlide" Target="/ppt/notesSlides/notesSlide2.xml" Id="R0a9b2a5c2add49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824d8b3aee40e4" /><Relationship Type="http://schemas.openxmlformats.org/officeDocument/2006/relationships/notesSlide" Target="/ppt/notesSlides/notesSlide3.xml" Id="R348ca538bf7b43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eecb57fdc34c1e" /><Relationship Type="http://schemas.openxmlformats.org/officeDocument/2006/relationships/notesSlide" Target="/ppt/notesSlides/notesSlide4.xml" Id="Rf3886122c87541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8400f711554650" /><Relationship Type="http://schemas.openxmlformats.org/officeDocument/2006/relationships/notesSlide" Target="/ppt/notesSlides/notesSlide5.xml" Id="R9b7fbdf6a0d34a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269045431e473a" /><Relationship Type="http://schemas.openxmlformats.org/officeDocument/2006/relationships/notesSlide" Target="/ppt/notesSlides/notesSlide6.xml" Id="Rb80bc526476e47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dec2b241e841f9" /><Relationship Type="http://schemas.openxmlformats.org/officeDocument/2006/relationships/notesSlide" Target="/ppt/notesSlides/notesSlide7.xml" Id="Ra65ab1b3b4e24050"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673B71-22D4-4554-8760-294FC46B47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25220F-DB72-4D5C-9CE1-C9047D6D5D6C}"/>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D0A1028C-6B1D-4E6B-8043-AC79532E62BD}"/>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AAA694ED-1C16-4DE2-B2A5-A825E22A37E6}"/>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2FDCA71A-05FF-4E45-915E-26FCAD136384}"/>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B412FAB-2C1A-44A2-B6FE-0892FD28E27E}"/>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70374BCE-02FD-4E1A-BDAF-4854E0C0B65A}"/>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4168C59B-54FF-4023-855A-4BFBAE9C15FE}"/>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B7244D9C-05C7-4E5C-B2DA-CAAA9FD9E85C}"/>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7403851"/>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9D80B86-0CF8-4DBB-89F6-ED1B25761632}"/>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0C1F4E61-123E-44E1-A089-FED50D2F69CC}"/>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8C8645B4-1CDA-4C28-97D9-6CB16E23EB90}"/>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7256f72966e47a5"/>
          <a:srcRect xmlns:a="http://schemas.openxmlformats.org/drawingml/2006/main" l="5570" t="0" r="5570" b="0"/>
          <a:stretch xmlns:a="http://schemas.openxmlformats.org/drawingml/2006/main">
            <a:fillRect l="0" t="0" r="0" b="0"/>
          </a:stretch>
        </p:blipFill>
        <p:spPr>
          <a:xfrm xmlns:a="http://schemas.openxmlformats.org/drawingml/2006/main">
            <a:off x="609600" y="1238250"/>
            <a:ext cx="6515100" cy="4095750"/>
          </a:xfrm>
          <a:prstGeom xmlns:a="http://schemas.openxmlformats.org/drawingml/2006/main" prst="roundRect">
            <a:avLst>
              <a:gd name="adj" fmla="val 3721"/>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84f3661c39e47d1"/>
          <a:srcRect xmlns:a="http://schemas.openxmlformats.org/drawingml/2006/main" l="0" t="14189" r="0" b="14189"/>
          <a:stretch xmlns:a="http://schemas.openxmlformats.org/drawingml/2006/main">
            <a:fillRect l="0" t="0" r="0" b="0"/>
          </a:stretch>
        </p:blipFill>
        <p:spPr>
          <a:xfrm xmlns:a="http://schemas.openxmlformats.org/drawingml/2006/main">
            <a:off x="7296150" y="1238250"/>
            <a:ext cx="4286250" cy="1714500"/>
          </a:xfrm>
          <a:prstGeom xmlns:a="http://schemas.openxmlformats.org/drawingml/2006/main" prst="roundRect">
            <a:avLst>
              <a:gd name="adj" fmla="val 7778"/>
            </a:avLst>
          </a:prstGeom>
        </p:spPr>
      </p:pic>
      <p:sp>
        <p:nvSpPr>
          <p:cNvPr id="6" name="">
            <a:extLst xmlns:a="http://schemas.openxmlformats.org/drawingml/2006/main">
              <a:ext uri="{FF2B5EF4-FFF2-40B4-BE49-F238E27FC236}">
                <a16:creationId xmlns:a16="http://schemas.microsoft.com/office/drawing/2014/main" id="{F9FFE4CB-8E69-42DC-9FFE-10B04655BEA1}"/>
              </a:ext>
            </a:extLst>
          </p:cNvPr>
          <p:cNvSpPr>
            <a:spLocks xmlns:a="http://schemas.openxmlformats.org/drawingml/2006/main" noGrp="1"/>
          </p:cNvSpPr>
          <p:nvPr/>
        </p:nvSpPr>
        <p:spPr>
          <a:xfrm xmlns:a="http://schemas.openxmlformats.org/drawingml/2006/main">
            <a:off x="7296150" y="2952750"/>
            <a:ext cx="4286250" cy="28575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A866E41-36EE-43BA-943A-C0067A4D5B82}"/>
              </a:ext>
            </a:extLst>
          </p:cNvPr>
          <p:cNvSpPr>
            <a:spLocks xmlns:a="http://schemas.openxmlformats.org/drawingml/2006/main" noGrp="1"/>
          </p:cNvSpPr>
          <p:nvPr/>
        </p:nvSpPr>
        <p:spPr>
          <a:xfrm xmlns:a="http://schemas.openxmlformats.org/drawingml/2006/main">
            <a:off x="7429500" y="2952750"/>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대화와 전투 준비</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feefe8a96c14783"/>
          <a:srcRect xmlns:a="http://schemas.openxmlformats.org/drawingml/2006/main" l="26042" t="0" r="26042" b="0"/>
          <a:stretch xmlns:a="http://schemas.openxmlformats.org/drawingml/2006/main">
            <a:fillRect l="0" t="0" r="0" b="0"/>
          </a:stretch>
        </p:blipFill>
        <p:spPr>
          <a:xfrm xmlns:a="http://schemas.openxmlformats.org/drawingml/2006/main">
            <a:off x="7296150" y="3371850"/>
            <a:ext cx="2667000" cy="1390650"/>
          </a:xfrm>
          <a:prstGeom xmlns:a="http://schemas.openxmlformats.org/drawingml/2006/main" prst="roundRect">
            <a:avLst>
              <a:gd name="adj" fmla="val 8219"/>
            </a:avLst>
          </a:prstGeom>
        </p:spPr>
      </p:pic>
      <p:sp>
        <p:nvSpPr>
          <p:cNvPr id="9" name="">
            <a:extLst xmlns:a="http://schemas.openxmlformats.org/drawingml/2006/main">
              <a:ext uri="{FF2B5EF4-FFF2-40B4-BE49-F238E27FC236}">
                <a16:creationId xmlns:a16="http://schemas.microsoft.com/office/drawing/2014/main" id="{DBE6CF33-0908-484A-89EA-60BBA7545F19}"/>
              </a:ext>
            </a:extLst>
          </p:cNvPr>
          <p:cNvSpPr>
            <a:spLocks xmlns:a="http://schemas.openxmlformats.org/drawingml/2006/main" noGrp="1"/>
          </p:cNvSpPr>
          <p:nvPr/>
        </p:nvSpPr>
        <p:spPr>
          <a:xfrm xmlns:a="http://schemas.openxmlformats.org/drawingml/2006/main">
            <a:off x="7296150" y="4762500"/>
            <a:ext cx="26670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59D953B-2876-477F-9AB0-73082F31C7AB}"/>
              </a:ext>
            </a:extLst>
          </p:cNvPr>
          <p:cNvSpPr>
            <a:spLocks xmlns:a="http://schemas.openxmlformats.org/drawingml/2006/main" noGrp="1"/>
          </p:cNvSpPr>
          <p:nvPr/>
        </p:nvSpPr>
        <p:spPr>
          <a:xfrm xmlns:a="http://schemas.openxmlformats.org/drawingml/2006/main">
            <a:off x="7410450" y="476250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미니게임 조작</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fa95b8593dc4899"/>
          <a:srcRect xmlns:a="http://schemas.openxmlformats.org/drawingml/2006/main" l="0" t="26675" r="0" b="26675"/>
          <a:stretch xmlns:a="http://schemas.openxmlformats.org/drawingml/2006/main">
            <a:fillRect l="0" t="0" r="0" b="0"/>
          </a:stretch>
        </p:blipFill>
        <p:spPr>
          <a:xfrm xmlns:a="http://schemas.openxmlformats.org/drawingml/2006/main">
            <a:off x="10096500" y="3371850"/>
            <a:ext cx="1485900" cy="1390650"/>
          </a:xfrm>
          <a:prstGeom xmlns:a="http://schemas.openxmlformats.org/drawingml/2006/main" prst="roundRect">
            <a:avLst>
              <a:gd name="adj" fmla="val 8219"/>
            </a:avLst>
          </a:prstGeom>
        </p:spPr>
      </p:pic>
      <p:sp>
        <p:nvSpPr>
          <p:cNvPr id="12" name="">
            <a:extLst xmlns:a="http://schemas.openxmlformats.org/drawingml/2006/main">
              <a:ext uri="{FF2B5EF4-FFF2-40B4-BE49-F238E27FC236}">
                <a16:creationId xmlns:a16="http://schemas.microsoft.com/office/drawing/2014/main" id="{E56DA0F8-FB3D-4EC6-A0E1-7E4D837B3004}"/>
              </a:ext>
            </a:extLst>
          </p:cNvPr>
          <p:cNvSpPr>
            <a:spLocks xmlns:a="http://schemas.openxmlformats.org/drawingml/2006/main" noGrp="1"/>
          </p:cNvSpPr>
          <p:nvPr/>
        </p:nvSpPr>
        <p:spPr>
          <a:xfrm xmlns:a="http://schemas.openxmlformats.org/drawingml/2006/main">
            <a:off x="10096500" y="4762500"/>
            <a:ext cx="14859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30EAF3-A026-4272-8544-0456BD6389CA}"/>
              </a:ext>
            </a:extLst>
          </p:cNvPr>
          <p:cNvSpPr>
            <a:spLocks xmlns:a="http://schemas.openxmlformats.org/drawingml/2006/main" noGrp="1"/>
          </p:cNvSpPr>
          <p:nvPr/>
        </p:nvSpPr>
        <p:spPr>
          <a:xfrm xmlns:a="http://schemas.openxmlformats.org/drawingml/2006/main">
            <a:off x="10153650" y="4762500"/>
            <a:ext cx="1371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Noto Sans KR"/>
                <a:ea typeface="Noto Sans KR"/>
                <a:cs typeface="Noto Sans KR"/>
              </a:defRPr>
            </a:pPr>
            <a:r>
              <a:rPr sz="1050" b="1">
                <a:solidFill>
                  <a:srgbClr val="FFFFFF"/>
                </a:solidFill>
                <a:latin typeface="Noto Sans KR"/>
                <a:ea typeface="Noto Sans KR"/>
                <a:cs typeface="Noto Sans KR"/>
              </a:rPr>
              <a:t>캐릭터 표정</a:t>
            </a:r>
          </a:p>
        </p:txBody>
      </p:sp>
      <p:sp>
        <p:nvSpPr>
          <p:cNvPr id="14" name="">
            <a:extLst xmlns:a="http://schemas.openxmlformats.org/drawingml/2006/main">
              <a:ext uri="{FF2B5EF4-FFF2-40B4-BE49-F238E27FC236}">
                <a16:creationId xmlns:a16="http://schemas.microsoft.com/office/drawing/2014/main" id="{F8F2627F-2164-4719-B100-DD4862E7DDC3}"/>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AB99270-55DE-461E-A02B-B5FBB1FE3692}"/>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16" name="">
            <a:extLst xmlns:a="http://schemas.openxmlformats.org/drawingml/2006/main">
              <a:ext uri="{FF2B5EF4-FFF2-40B4-BE49-F238E27FC236}">
                <a16:creationId xmlns:a16="http://schemas.microsoft.com/office/drawing/2014/main" id="{07244793-23C5-43B9-8B81-86FC95072208}"/>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17" name="">
            <a:extLst xmlns:a="http://schemas.openxmlformats.org/drawingml/2006/main">
              <a:ext uri="{FF2B5EF4-FFF2-40B4-BE49-F238E27FC236}">
                <a16:creationId xmlns:a16="http://schemas.microsoft.com/office/drawing/2014/main" id="{F81BFAEA-4497-43FB-AE06-74B9BCDA147B}"/>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18" name="">
            <a:extLst xmlns:a="http://schemas.openxmlformats.org/drawingml/2006/main">
              <a:ext uri="{FF2B5EF4-FFF2-40B4-BE49-F238E27FC236}">
                <a16:creationId xmlns:a16="http://schemas.microsoft.com/office/drawing/2014/main" id="{6A391D3C-4944-40FE-B3D8-E4518F8D83A7}"/>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9" name="">
            <a:extLst xmlns:a="http://schemas.openxmlformats.org/drawingml/2006/main">
              <a:ext uri="{FF2B5EF4-FFF2-40B4-BE49-F238E27FC236}">
                <a16:creationId xmlns:a16="http://schemas.microsoft.com/office/drawing/2014/main" id="{379A3A65-8F2D-4D56-A524-34304AB680B6}"/>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20" name="">
            <a:extLst xmlns:a="http://schemas.openxmlformats.org/drawingml/2006/main">
              <a:ext uri="{FF2B5EF4-FFF2-40B4-BE49-F238E27FC236}">
                <a16:creationId xmlns:a16="http://schemas.microsoft.com/office/drawing/2014/main" id="{02BDF8F1-CDDD-4955-80FD-F9A7D823C701}"/>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21" name="">
            <a:extLst xmlns:a="http://schemas.openxmlformats.org/drawingml/2006/main">
              <a:ext uri="{FF2B5EF4-FFF2-40B4-BE49-F238E27FC236}">
                <a16:creationId xmlns:a16="http://schemas.microsoft.com/office/drawing/2014/main" id="{53A15056-D785-41FB-8FE8-414EFB3971C9}"/>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22" name="">
            <a:extLst xmlns:a="http://schemas.openxmlformats.org/drawingml/2006/main">
              <a:ext uri="{FF2B5EF4-FFF2-40B4-BE49-F238E27FC236}">
                <a16:creationId xmlns:a16="http://schemas.microsoft.com/office/drawing/2014/main" id="{7D7DE793-98AB-4A64-AF12-5D7362DF4590}"/>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23" name="">
            <a:extLst xmlns:a="http://schemas.openxmlformats.org/drawingml/2006/main">
              <a:ext uri="{FF2B5EF4-FFF2-40B4-BE49-F238E27FC236}">
                <a16:creationId xmlns:a16="http://schemas.microsoft.com/office/drawing/2014/main" id="{E0751DFC-3367-4C52-9C53-09F935349CDF}"/>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24" name="">
            <a:extLst xmlns:a="http://schemas.openxmlformats.org/drawingml/2006/main">
              <a:ext uri="{FF2B5EF4-FFF2-40B4-BE49-F238E27FC236}">
                <a16:creationId xmlns:a16="http://schemas.microsoft.com/office/drawing/2014/main" id="{20DC979F-0D54-4FF4-B50A-EE1D35C1A3E5}"/>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25" name="">
            <a:extLst xmlns:a="http://schemas.openxmlformats.org/drawingml/2006/main">
              <a:ext uri="{FF2B5EF4-FFF2-40B4-BE49-F238E27FC236}">
                <a16:creationId xmlns:a16="http://schemas.microsoft.com/office/drawing/2014/main" id="{1BAEADD4-DB09-4DEE-A186-5D97F3C36404}"/>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129007557"/>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E798214-9630-4106-8A70-E3266E1EDFD6}"/>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6BA223E1-A157-4D54-A2FF-7CCF3FA155ED}"/>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CC6EB8E9-3A70-41C3-AB7C-DC0A08599210}"/>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06212F-1A3D-4552-B699-F5CDDE600DD1}"/>
              </a:ext>
            </a:extLst>
          </p:cNvPr>
          <p:cNvSpPr>
            <a:spLocks xmlns:a="http://schemas.openxmlformats.org/drawingml/2006/main" noGrp="1"/>
          </p:cNvSpPr>
          <p:nvPr/>
        </p:nvSpPr>
        <p:spPr>
          <a:xfrm xmlns:a="http://schemas.openxmlformats.org/drawingml/2006/main">
            <a:off x="723900" y="13144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5E6B75"/>
                </a:solidFill>
                <a:latin typeface="Noto Sans KR"/>
                <a:ea typeface="Noto Sans KR"/>
                <a:cs typeface="Noto Sans KR"/>
              </a:defRPr>
            </a:pPr>
            <a:r>
              <a:rPr sz="1350" b="1">
                <a:solidFill>
                  <a:srgbClr val="5E6B75"/>
                </a:solidFill>
                <a:latin typeface="Noto Sans KR"/>
                <a:ea typeface="Noto Sans KR"/>
                <a:cs typeface="Noto Sans KR"/>
              </a:rPr>
              <a:t>비교 항목</a:t>
            </a:r>
          </a:p>
        </p:txBody>
      </p:sp>
      <p:sp>
        <p:nvSpPr>
          <p:cNvPr id="5" name="">
            <a:extLst xmlns:a="http://schemas.openxmlformats.org/drawingml/2006/main">
              <a:ext uri="{FF2B5EF4-FFF2-40B4-BE49-F238E27FC236}">
                <a16:creationId xmlns:a16="http://schemas.microsoft.com/office/drawing/2014/main" id="{B0986B93-17C0-49CB-8B04-1146574F0EDF}"/>
              </a:ext>
            </a:extLst>
          </p:cNvPr>
          <p:cNvSpPr>
            <a:spLocks xmlns:a="http://schemas.openxmlformats.org/drawingml/2006/main" noGrp="1"/>
          </p:cNvSpPr>
          <p:nvPr/>
        </p:nvSpPr>
        <p:spPr>
          <a:xfrm xmlns:a="http://schemas.openxmlformats.org/drawingml/2006/main">
            <a:off x="2324100" y="13144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D9854F"/>
                </a:solidFill>
                <a:latin typeface="Noto Sans KR"/>
                <a:ea typeface="Noto Sans KR"/>
                <a:cs typeface="Noto Sans KR"/>
              </a:defRPr>
            </a:pPr>
            <a:r>
              <a:rPr sz="1725" b="1">
                <a:solidFill>
                  <a:srgbClr val="D9854F"/>
                </a:solidFill>
                <a:latin typeface="Noto Sans KR"/>
                <a:ea typeface="Noto Sans KR"/>
                <a:cs typeface="Noto Sans KR"/>
              </a:rPr>
              <a:t>Reigns</a:t>
            </a:r>
          </a:p>
        </p:txBody>
      </p:sp>
      <p:sp>
        <p:nvSpPr>
          <p:cNvPr id="6" name="">
            <a:extLst xmlns:a="http://schemas.openxmlformats.org/drawingml/2006/main">
              <a:ext uri="{FF2B5EF4-FFF2-40B4-BE49-F238E27FC236}">
                <a16:creationId xmlns:a16="http://schemas.microsoft.com/office/drawing/2014/main" id="{D92EB3B0-A76C-4A33-9C0F-D0902CCCB37C}"/>
              </a:ext>
            </a:extLst>
          </p:cNvPr>
          <p:cNvSpPr>
            <a:spLocks xmlns:a="http://schemas.openxmlformats.org/drawingml/2006/main" noGrp="1"/>
          </p:cNvSpPr>
          <p:nvPr/>
        </p:nvSpPr>
        <p:spPr>
          <a:xfrm xmlns:a="http://schemas.openxmlformats.org/drawingml/2006/main">
            <a:off x="6515100" y="131445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8788A"/>
                </a:solidFill>
                <a:latin typeface="Noto Sans KR"/>
                <a:ea typeface="Noto Sans KR"/>
                <a:cs typeface="Noto Sans KR"/>
              </a:defRPr>
            </a:pPr>
            <a:r>
              <a:rPr sz="1725" b="1">
                <a:solidFill>
                  <a:srgbClr val="18788A"/>
                </a:solidFill>
                <a:latin typeface="Noto Sans KR"/>
                <a:ea typeface="Noto Sans KR"/>
                <a:cs typeface="Noto Sans KR"/>
              </a:rPr>
              <a:t>내 게임</a:t>
            </a:r>
          </a:p>
        </p:txBody>
      </p:sp>
      <p:sp>
        <p:nvSpPr>
          <p:cNvPr id="7" name="">
            <a:extLst xmlns:a="http://schemas.openxmlformats.org/drawingml/2006/main">
              <a:ext uri="{FF2B5EF4-FFF2-40B4-BE49-F238E27FC236}">
                <a16:creationId xmlns:a16="http://schemas.microsoft.com/office/drawing/2014/main" id="{A476463B-54B6-4364-ACBD-58C672D3854E}"/>
              </a:ext>
            </a:extLst>
          </p:cNvPr>
          <p:cNvSpPr>
            <a:spLocks xmlns:a="http://schemas.openxmlformats.org/drawingml/2006/main" noGrp="1"/>
          </p:cNvSpPr>
          <p:nvPr/>
        </p:nvSpPr>
        <p:spPr>
          <a:xfrm xmlns:a="http://schemas.openxmlformats.org/drawingml/2006/main">
            <a:off x="723900" y="1752600"/>
            <a:ext cx="107442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2F46E5-0B66-40F4-A060-8F412CDC5703}"/>
              </a:ext>
            </a:extLst>
          </p:cNvPr>
          <p:cNvSpPr>
            <a:spLocks xmlns:a="http://schemas.openxmlformats.org/drawingml/2006/main" noGrp="1"/>
          </p:cNvSpPr>
          <p:nvPr/>
        </p:nvSpPr>
        <p:spPr>
          <a:xfrm xmlns:a="http://schemas.openxmlformats.org/drawingml/2006/main">
            <a:off x="723900" y="1885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선택 방식</a:t>
            </a:r>
          </a:p>
        </p:txBody>
      </p:sp>
      <p:sp>
        <p:nvSpPr>
          <p:cNvPr id="9" name="">
            <a:extLst xmlns:a="http://schemas.openxmlformats.org/drawingml/2006/main">
              <a:ext uri="{FF2B5EF4-FFF2-40B4-BE49-F238E27FC236}">
                <a16:creationId xmlns:a16="http://schemas.microsoft.com/office/drawing/2014/main" id="{891F09DF-1710-499D-BA9A-6550F353A037}"/>
              </a:ext>
            </a:extLst>
          </p:cNvPr>
          <p:cNvSpPr>
            <a:spLocks xmlns:a="http://schemas.openxmlformats.org/drawingml/2006/main" noGrp="1"/>
          </p:cNvSpPr>
          <p:nvPr/>
        </p:nvSpPr>
        <p:spPr>
          <a:xfrm xmlns:a="http://schemas.openxmlformats.org/drawingml/2006/main">
            <a:off x="2324100" y="1885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정해진 카드에서 좌우 선택</a:t>
            </a:r>
          </a:p>
        </p:txBody>
      </p:sp>
      <p:sp>
        <p:nvSpPr>
          <p:cNvPr id="10" name="">
            <a:extLst xmlns:a="http://schemas.openxmlformats.org/drawingml/2006/main">
              <a:ext uri="{FF2B5EF4-FFF2-40B4-BE49-F238E27FC236}">
                <a16:creationId xmlns:a16="http://schemas.microsoft.com/office/drawing/2014/main" id="{A5D73306-6F12-4936-AFAC-AB0341AD6861}"/>
              </a:ext>
            </a:extLst>
          </p:cNvPr>
          <p:cNvSpPr>
            <a:spLocks xmlns:a="http://schemas.openxmlformats.org/drawingml/2006/main" noGrp="1"/>
          </p:cNvSpPr>
          <p:nvPr/>
        </p:nvSpPr>
        <p:spPr>
          <a:xfrm xmlns:a="http://schemas.openxmlformats.org/drawingml/2006/main">
            <a:off x="6515100" y="1885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선택과 이전 플레이 상태를 함께 반영</a:t>
            </a:r>
          </a:p>
        </p:txBody>
      </p:sp>
      <p:sp>
        <p:nvSpPr>
          <p:cNvPr id="11" name="">
            <a:extLst xmlns:a="http://schemas.openxmlformats.org/drawingml/2006/main">
              <a:ext uri="{FF2B5EF4-FFF2-40B4-BE49-F238E27FC236}">
                <a16:creationId xmlns:a16="http://schemas.microsoft.com/office/drawing/2014/main" id="{A26D2567-E135-43B7-A23E-ADCD157FEC9B}"/>
              </a:ext>
            </a:extLst>
          </p:cNvPr>
          <p:cNvSpPr>
            <a:spLocks xmlns:a="http://schemas.openxmlformats.org/drawingml/2006/main" noGrp="1"/>
          </p:cNvSpPr>
          <p:nvPr/>
        </p:nvSpPr>
        <p:spPr>
          <a:xfrm xmlns:a="http://schemas.openxmlformats.org/drawingml/2006/main">
            <a:off x="723900" y="2343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A6D2919-C29F-4B81-8941-1A6C93D6C839}"/>
              </a:ext>
            </a:extLst>
          </p:cNvPr>
          <p:cNvSpPr>
            <a:spLocks xmlns:a="http://schemas.openxmlformats.org/drawingml/2006/main" noGrp="1"/>
          </p:cNvSpPr>
          <p:nvPr/>
        </p:nvSpPr>
        <p:spPr>
          <a:xfrm xmlns:a="http://schemas.openxmlformats.org/drawingml/2006/main">
            <a:off x="723900" y="24574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이야기</a:t>
            </a:r>
          </a:p>
        </p:txBody>
      </p:sp>
      <p:sp>
        <p:nvSpPr>
          <p:cNvPr id="13" name="">
            <a:extLst xmlns:a="http://schemas.openxmlformats.org/drawingml/2006/main">
              <a:ext uri="{FF2B5EF4-FFF2-40B4-BE49-F238E27FC236}">
                <a16:creationId xmlns:a16="http://schemas.microsoft.com/office/drawing/2014/main" id="{C998128A-7969-412E-AEC6-CE13E4808EFA}"/>
              </a:ext>
            </a:extLst>
          </p:cNvPr>
          <p:cNvSpPr>
            <a:spLocks xmlns:a="http://schemas.openxmlformats.org/drawingml/2006/main" noGrp="1"/>
          </p:cNvSpPr>
          <p:nvPr/>
        </p:nvSpPr>
        <p:spPr>
          <a:xfrm xmlns:a="http://schemas.openxmlformats.org/drawingml/2006/main">
            <a:off x="2324100" y="2457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미리 작성된 카드와 해금 콘텐츠</a:t>
            </a:r>
          </a:p>
        </p:txBody>
      </p:sp>
      <p:sp>
        <p:nvSpPr>
          <p:cNvPr id="14" name="">
            <a:extLst xmlns:a="http://schemas.openxmlformats.org/drawingml/2006/main">
              <a:ext uri="{FF2B5EF4-FFF2-40B4-BE49-F238E27FC236}">
                <a16:creationId xmlns:a16="http://schemas.microsoft.com/office/drawing/2014/main" id="{0B675CD8-DF9B-43D6-A4F6-32AFA75977C6}"/>
              </a:ext>
            </a:extLst>
          </p:cNvPr>
          <p:cNvSpPr>
            <a:spLocks xmlns:a="http://schemas.openxmlformats.org/drawingml/2006/main" noGrp="1"/>
          </p:cNvSpPr>
          <p:nvPr/>
        </p:nvSpPr>
        <p:spPr>
          <a:xfrm xmlns:a="http://schemas.openxmlformats.org/drawingml/2006/main">
            <a:off x="651510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허용 문장을 로컬 한국어 LLM으로 변화</a:t>
            </a:r>
          </a:p>
        </p:txBody>
      </p:sp>
      <p:sp>
        <p:nvSpPr>
          <p:cNvPr id="15" name="">
            <a:extLst xmlns:a="http://schemas.openxmlformats.org/drawingml/2006/main">
              <a:ext uri="{FF2B5EF4-FFF2-40B4-BE49-F238E27FC236}">
                <a16:creationId xmlns:a16="http://schemas.microsoft.com/office/drawing/2014/main" id="{52035FC9-A843-47E7-B8A7-2A490B8D23B6}"/>
              </a:ext>
            </a:extLst>
          </p:cNvPr>
          <p:cNvSpPr>
            <a:spLocks xmlns:a="http://schemas.openxmlformats.org/drawingml/2006/main" noGrp="1"/>
          </p:cNvSpPr>
          <p:nvPr/>
        </p:nvSpPr>
        <p:spPr>
          <a:xfrm xmlns:a="http://schemas.openxmlformats.org/drawingml/2006/main">
            <a:off x="723900" y="29146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6EB0BFA-DAD6-4AF4-B3FB-A52076340F18}"/>
              </a:ext>
            </a:extLst>
          </p:cNvPr>
          <p:cNvSpPr>
            <a:spLocks xmlns:a="http://schemas.openxmlformats.org/drawingml/2006/main" noGrp="1"/>
          </p:cNvSpPr>
          <p:nvPr/>
        </p:nvSpPr>
        <p:spPr>
          <a:xfrm xmlns:a="http://schemas.openxmlformats.org/drawingml/2006/main">
            <a:off x="723900" y="3028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확장 방식</a:t>
            </a:r>
          </a:p>
        </p:txBody>
      </p:sp>
      <p:sp>
        <p:nvSpPr>
          <p:cNvPr id="17" name="">
            <a:extLst xmlns:a="http://schemas.openxmlformats.org/drawingml/2006/main">
              <a:ext uri="{FF2B5EF4-FFF2-40B4-BE49-F238E27FC236}">
                <a16:creationId xmlns:a16="http://schemas.microsoft.com/office/drawing/2014/main" id="{D6504A14-B625-4C35-B64E-8DDBAD449B2A}"/>
              </a:ext>
            </a:extLst>
          </p:cNvPr>
          <p:cNvSpPr>
            <a:spLocks xmlns:a="http://schemas.openxmlformats.org/drawingml/2006/main" noGrp="1"/>
          </p:cNvSpPr>
          <p:nvPr/>
        </p:nvSpPr>
        <p:spPr>
          <a:xfrm xmlns:a="http://schemas.openxmlformats.org/drawingml/2006/main">
            <a:off x="2324100" y="3028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카드 해금과 네 지표의 균형</a:t>
            </a:r>
          </a:p>
        </p:txBody>
      </p:sp>
      <p:sp>
        <p:nvSpPr>
          <p:cNvPr id="18" name="">
            <a:extLst xmlns:a="http://schemas.openxmlformats.org/drawingml/2006/main">
              <a:ext uri="{FF2B5EF4-FFF2-40B4-BE49-F238E27FC236}">
                <a16:creationId xmlns:a16="http://schemas.microsoft.com/office/drawing/2014/main" id="{F279D04D-3625-4151-A647-B16583913E45}"/>
              </a:ext>
            </a:extLst>
          </p:cNvPr>
          <p:cNvSpPr>
            <a:spLocks xmlns:a="http://schemas.openxmlformats.org/drawingml/2006/main" noGrp="1"/>
          </p:cNvSpPr>
          <p:nvPr/>
        </p:nvSpPr>
        <p:spPr>
          <a:xfrm xmlns:a="http://schemas.openxmlformats.org/drawingml/2006/main">
            <a:off x="6515100" y="3028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terrain·퀘스트·미니게임 데이터로 연결</a:t>
            </a:r>
          </a:p>
        </p:txBody>
      </p:sp>
      <p:sp>
        <p:nvSpPr>
          <p:cNvPr id="19" name="">
            <a:extLst xmlns:a="http://schemas.openxmlformats.org/drawingml/2006/main">
              <a:ext uri="{FF2B5EF4-FFF2-40B4-BE49-F238E27FC236}">
                <a16:creationId xmlns:a16="http://schemas.microsoft.com/office/drawing/2014/main" id="{23AA04DD-B102-4E78-BF76-2D0FAAD78BC8}"/>
              </a:ext>
            </a:extLst>
          </p:cNvPr>
          <p:cNvSpPr>
            <a:spLocks xmlns:a="http://schemas.openxmlformats.org/drawingml/2006/main" noGrp="1"/>
          </p:cNvSpPr>
          <p:nvPr/>
        </p:nvSpPr>
        <p:spPr>
          <a:xfrm xmlns:a="http://schemas.openxmlformats.org/drawingml/2006/main">
            <a:off x="723900" y="3486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F513562-F257-4325-9187-837F13608CAD}"/>
              </a:ext>
            </a:extLst>
          </p:cNvPr>
          <p:cNvSpPr>
            <a:spLocks xmlns:a="http://schemas.openxmlformats.org/drawingml/2006/main" noGrp="1"/>
          </p:cNvSpPr>
          <p:nvPr/>
        </p:nvSpPr>
        <p:spPr>
          <a:xfrm xmlns:a="http://schemas.openxmlformats.org/drawingml/2006/main">
            <a:off x="723900" y="3905250"/>
            <a:ext cx="4095750" cy="1581150"/>
          </a:xfrm>
          <a:prstGeom xmlns:a="http://schemas.openxmlformats.org/drawingml/2006/main" prst="roundRect">
            <a:avLst>
              <a:gd name="adj" fmla="val 9639"/>
            </a:avLst>
          </a:prstGeom>
          <a:solidFill xmlns:a="http://schemas.openxmlformats.org/drawingml/2006/main">
            <a:srgbClr val="F6E6DA"/>
          </a:solidFill>
          <a:ln xmlns:a="http://schemas.openxmlformats.org/drawingml/2006/main" w="9525">
            <a:solidFill>
              <a:srgbClr val="D9854F"/>
            </a:solidFill>
            <a:prstDash val="solid"/>
          </a:ln>
        </p:spPr>
      </p:sp>
      <p:sp>
        <p:nvSpPr>
          <p:cNvPr id="21" name="">
            <a:extLst xmlns:a="http://schemas.openxmlformats.org/drawingml/2006/main">
              <a:ext uri="{FF2B5EF4-FFF2-40B4-BE49-F238E27FC236}">
                <a16:creationId xmlns:a16="http://schemas.microsoft.com/office/drawing/2014/main" id="{F64A427C-389E-41EB-B4F0-427A44193438}"/>
              </a:ext>
            </a:extLst>
          </p:cNvPr>
          <p:cNvSpPr>
            <a:spLocks xmlns:a="http://schemas.openxmlformats.org/drawingml/2006/main" noGrp="1"/>
          </p:cNvSpPr>
          <p:nvPr/>
        </p:nvSpPr>
        <p:spPr>
          <a:xfrm xmlns:a="http://schemas.openxmlformats.org/drawingml/2006/main">
            <a:off x="9906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문제</a:t>
            </a:r>
          </a:p>
        </p:txBody>
      </p:sp>
      <p:sp>
        <p:nvSpPr>
          <p:cNvPr id="22" name="">
            <a:extLst xmlns:a="http://schemas.openxmlformats.org/drawingml/2006/main">
              <a:ext uri="{FF2B5EF4-FFF2-40B4-BE49-F238E27FC236}">
                <a16:creationId xmlns:a16="http://schemas.microsoft.com/office/drawing/2014/main" id="{B0279000-55B7-482E-8E07-52CAD247A47E}"/>
              </a:ext>
            </a:extLst>
          </p:cNvPr>
          <p:cNvSpPr>
            <a:spLocks xmlns:a="http://schemas.openxmlformats.org/drawingml/2006/main" noGrp="1"/>
          </p:cNvSpPr>
          <p:nvPr/>
        </p:nvSpPr>
        <p:spPr>
          <a:xfrm xmlns:a="http://schemas.openxmlformats.org/drawingml/2006/main">
            <a:off x="990600" y="4476750"/>
            <a:ext cx="3448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정규식 입력에 의존</a:t>
            </a:r>
          </a:p>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한국어 인물·장소 보호 부족</a:t>
            </a:r>
          </a:p>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문자열 유사도와 단일 결과에 의존</a:t>
            </a:r>
          </a:p>
        </p:txBody>
      </p:sp>
      <p:sp>
        <p:nvSpPr>
          <p:cNvPr id="23" name="">
            <a:extLst xmlns:a="http://schemas.openxmlformats.org/drawingml/2006/main">
              <a:ext uri="{FF2B5EF4-FFF2-40B4-BE49-F238E27FC236}">
                <a16:creationId xmlns:a16="http://schemas.microsoft.com/office/drawing/2014/main" id="{AE1A8932-8FF8-4662-91C1-1FADFA1795F1}"/>
              </a:ext>
            </a:extLst>
          </p:cNvPr>
          <p:cNvSpPr>
            <a:spLocks xmlns:a="http://schemas.openxmlformats.org/drawingml/2006/main" noGrp="1"/>
          </p:cNvSpPr>
          <p:nvPr/>
        </p:nvSpPr>
        <p:spPr>
          <a:xfrm xmlns:a="http://schemas.openxmlformats.org/drawingml/2006/main">
            <a:off x="5048250" y="4343400"/>
            <a:ext cx="933450" cy="685800"/>
          </a:xfrm>
          <a:prstGeom xmlns:a="http://schemas.openxmlformats.org/drawingml/2006/main" prst="rightArrow">
            <a:avLst/>
          </a:prstGeom>
          <a:solidFill xmlns:a="http://schemas.openxmlformats.org/drawingml/2006/main">
            <a:srgbClr val="18788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3F494E2-7D86-4966-A65F-DDE5E8DEEA3F}"/>
              </a:ext>
            </a:extLst>
          </p:cNvPr>
          <p:cNvSpPr>
            <a:spLocks xmlns:a="http://schemas.openxmlformats.org/drawingml/2006/main" noGrp="1"/>
          </p:cNvSpPr>
          <p:nvPr/>
        </p:nvSpPr>
        <p:spPr>
          <a:xfrm xmlns:a="http://schemas.openxmlformats.org/drawingml/2006/main">
            <a:off x="6210300" y="3905250"/>
            <a:ext cx="5257800" cy="1581150"/>
          </a:xfrm>
          <a:prstGeom xmlns:a="http://schemas.openxmlformats.org/drawingml/2006/main" prst="roundRect">
            <a:avLst>
              <a:gd name="adj" fmla="val 9639"/>
            </a:avLst>
          </a:prstGeom>
          <a:solidFill xmlns:a="http://schemas.openxmlformats.org/drawingml/2006/main">
            <a:srgbClr val="D9EEF0"/>
          </a:solidFill>
          <a:ln xmlns:a="http://schemas.openxmlformats.org/drawingml/2006/main" w="9525">
            <a:solidFill>
              <a:srgbClr val="18788A"/>
            </a:solidFill>
            <a:prstDash val="solid"/>
          </a:ln>
        </p:spPr>
      </p:sp>
      <p:sp>
        <p:nvSpPr>
          <p:cNvPr id="25" name="">
            <a:extLst xmlns:a="http://schemas.openxmlformats.org/drawingml/2006/main">
              <a:ext uri="{FF2B5EF4-FFF2-40B4-BE49-F238E27FC236}">
                <a16:creationId xmlns:a16="http://schemas.microsoft.com/office/drawing/2014/main" id="{2F820928-FDF2-49FA-A941-8BC3924A1906}"/>
              </a:ext>
            </a:extLst>
          </p:cNvPr>
          <p:cNvSpPr>
            <a:spLocks xmlns:a="http://schemas.openxmlformats.org/drawingml/2006/main" noGrp="1"/>
          </p:cNvSpPr>
          <p:nvPr/>
        </p:nvSpPr>
        <p:spPr>
          <a:xfrm xmlns:a="http://schemas.openxmlformats.org/drawingml/2006/main">
            <a:off x="64770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방향</a:t>
            </a:r>
          </a:p>
        </p:txBody>
      </p:sp>
      <p:sp>
        <p:nvSpPr>
          <p:cNvPr id="26" name="">
            <a:extLst xmlns:a="http://schemas.openxmlformats.org/drawingml/2006/main">
              <a:ext uri="{FF2B5EF4-FFF2-40B4-BE49-F238E27FC236}">
                <a16:creationId xmlns:a16="http://schemas.microsoft.com/office/drawing/2014/main" id="{67E439C0-C6E3-40B9-AB03-A760A2D0EE36}"/>
              </a:ext>
            </a:extLst>
          </p:cNvPr>
          <p:cNvSpPr>
            <a:spLocks xmlns:a="http://schemas.openxmlformats.org/drawingml/2006/main" noGrp="1"/>
          </p:cNvSpPr>
          <p:nvPr/>
        </p:nvSpPr>
        <p:spPr>
          <a:xfrm xmlns:a="http://schemas.openxmlformats.org/drawingml/2006/main">
            <a:off x="6477000" y="4476750"/>
            <a:ext cx="4610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JSON 입력과 변경 금지 목록</a:t>
            </a:r>
          </a:p>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앞뒤 문맥을 포함한 후보 3개 생성</a:t>
            </a:r>
          </a:p>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규칙·의미·루트 검사 후 원문 복구</a:t>
            </a:r>
          </a:p>
        </p:txBody>
      </p:sp>
      <p:sp>
        <p:nvSpPr>
          <p:cNvPr id="27" name="">
            <a:extLst xmlns:a="http://schemas.openxmlformats.org/drawingml/2006/main">
              <a:ext uri="{FF2B5EF4-FFF2-40B4-BE49-F238E27FC236}">
                <a16:creationId xmlns:a16="http://schemas.microsoft.com/office/drawing/2014/main" id="{201D0347-1412-4DD8-AB5E-BDBA395B599B}"/>
              </a:ext>
            </a:extLst>
          </p:cNvPr>
          <p:cNvSpPr>
            <a:spLocks xmlns:a="http://schemas.openxmlformats.org/drawingml/2006/main" noGrp="1"/>
          </p:cNvSpPr>
          <p:nvPr/>
        </p:nvSpPr>
        <p:spPr>
          <a:xfrm xmlns:a="http://schemas.openxmlformats.org/drawingml/2006/main">
            <a:off x="723900" y="590550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입력과 검증을 안정화한 뒤 매개변수 규모가 다른 두 모델을 비교해 상황에 맞게 적용합니다.</a:t>
            </a:r>
          </a:p>
        </p:txBody>
      </p:sp>
    </p:spTree>
    <p:extLst>
      <p:ext uri="{BB962C8B-B14F-4D97-AF65-F5344CB8AC3E}">
        <p14:creationId xmlns:p14="http://schemas.microsoft.com/office/powerpoint/2010/main" val="113738791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F04CCC6-80ED-43B6-968B-B9E8D2E26A11}"/>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A31351BD-B748-4CCB-A517-91CE168B0DFA}"/>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67B8F7E2-E952-4B1D-AB41-27C9D82D9C5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D24BD3-5761-4578-9F28-86E6BEA5B104}"/>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EB600822-BF5D-40EE-B411-00BEDDA34E36}"/>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FD487CC4-A902-47C2-83D0-0DC15F0606BF}"/>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788A657A-8E68-4BCB-AC4E-4A9374F6A814}"/>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610DEE-8BC9-403C-BF2C-B07FE361959B}"/>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92066B1D-3505-4A18-8752-28D1F1F8515D}"/>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CB373502-F03F-4C43-BBF8-738CCAFEA377}"/>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매개변수 규모가 다른 Kanana 두 버전을 동일 조건에서 평가</a:t>
            </a:r>
          </a:p>
        </p:txBody>
      </p:sp>
      <p:sp>
        <p:nvSpPr>
          <p:cNvPr id="11" name="">
            <a:extLst xmlns:a="http://schemas.openxmlformats.org/drawingml/2006/main">
              <a:ext uri="{FF2B5EF4-FFF2-40B4-BE49-F238E27FC236}">
                <a16:creationId xmlns:a16="http://schemas.microsoft.com/office/drawing/2014/main" id="{983F1543-6A90-4A64-849A-86053BA9FE63}"/>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F3AB5DF-4E81-4821-B3C7-EF92EA1074B2}"/>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6632164B-4583-4A6A-A57A-957CDDA64BAB}"/>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EE3A08C0-C1FF-4FD2-9DAE-5044950075E6}"/>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3D9B59AD-30E1-4186-9086-A5374F2BBB72}"/>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653D39-F120-4C63-A963-CA46B5600AEB}"/>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543F15CA-BF2C-41FA-88D6-60CFF22CA2F3}"/>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96E4473A-FCF8-4E87-998A-832DD601F1A8}"/>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6E63D5D9-0E8F-4320-A0C0-8C5814C7C00C}"/>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1970035297"/>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2609882-0E76-47B3-A46D-ED510A84E0F0}"/>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B546EB4D-DD85-4F7B-B8B8-D039D6929E01}"/>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17DC724B-188A-4367-9E2F-46661B08D80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8E1CA5-9D03-4A0D-A68B-2BFB1B8CF157}"/>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EF9A4FE3-9E40-4FDC-BADE-2E74CCED9107}"/>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5871867E-16BC-44FE-9393-2D3AF40ECF06}"/>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7BE04BB0-4735-411E-A37B-35BE655F1CA3}"/>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61D1D7D9-E32E-4A47-AD3E-3B3C02AB66ED}"/>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7C1149-D9EA-4ACC-B192-E5E654C446C2}"/>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1DCB09A2-D41A-4F49-8FEC-B5D705558DA3}"/>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EF5263A6-2313-44F7-A879-CCAEE0E8B6DE}"/>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Pydantic(입력 검증)</a:t>
            </a:r>
          </a:p>
        </p:txBody>
      </p:sp>
      <p:sp>
        <p:nvSpPr>
          <p:cNvPr id="12" name="">
            <a:extLst xmlns:a="http://schemas.openxmlformats.org/drawingml/2006/main">
              <a:ext uri="{FF2B5EF4-FFF2-40B4-BE49-F238E27FC236}">
                <a16:creationId xmlns:a16="http://schemas.microsoft.com/office/drawing/2014/main" id="{1A99350F-5C92-42CB-908A-C6694E1F70B3}"/>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B955A138-8D52-47BF-BC2D-6DD61CC02914}"/>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50D3AE1-CE0F-4927-9D48-C59B0E46FC74}"/>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05B9A50C-55AB-4016-803A-6F1F80C55CA0}"/>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70CF43F3-8B8E-4D4B-99E9-823A70C424BF}"/>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 1.3B·3B</a:t>
            </a:r>
          </a:p>
        </p:txBody>
      </p:sp>
      <p:sp>
        <p:nvSpPr>
          <p:cNvPr id="17" name="">
            <a:extLst xmlns:a="http://schemas.openxmlformats.org/drawingml/2006/main">
              <a:ext uri="{FF2B5EF4-FFF2-40B4-BE49-F238E27FC236}">
                <a16:creationId xmlns:a16="http://schemas.microsoft.com/office/drawing/2014/main" id="{0A73AA7D-D664-40FC-8C78-AE8D4E48511E}"/>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97C5BD0D-F80A-4F34-9E1F-EF79C00688B5}"/>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2D146DA-947D-49C3-BCB5-0117320C34EC}"/>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93591195-8736-4D66-829F-CEAD304355EC}"/>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5AAEA5DB-3A34-4C37-9DD0-C016EA7CDD16}"/>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7B96006A-4BC2-4760-9694-A23672B2103A}"/>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0540992B-FF35-40AA-9431-FF21B330F53E}"/>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05B230F-BA9F-40D9-953D-87FEEB0D5FDF}"/>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D7F07375-1349-4938-BD72-0BF235331729}"/>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C9B9B5B6-EB32-4A47-91EC-A1486127683E}"/>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6F680B9B-49E6-4F4D-8124-9DCEED53AD8E}"/>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A161B730-6556-4637-8019-3FAA216DA0A5}"/>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9CFAB41-BC32-41E2-A3C0-1E411B2B4CA2}"/>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3A9A7665-3151-4170-BE8A-5321923BB961}"/>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B18B5596-B10C-463C-AACC-7765B445CA39}"/>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매개변수 규모가 다른 Kanana 두 버전 비교</a:t>
            </a:r>
          </a:p>
        </p:txBody>
      </p:sp>
      <p:sp>
        <p:nvSpPr>
          <p:cNvPr id="32" name="">
            <a:extLst xmlns:a="http://schemas.openxmlformats.org/drawingml/2006/main">
              <a:ext uri="{FF2B5EF4-FFF2-40B4-BE49-F238E27FC236}">
                <a16:creationId xmlns:a16="http://schemas.microsoft.com/office/drawing/2014/main" id="{0FB6492B-A6E2-4B4D-9318-EA54CF177580}"/>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C3AD2B1E-EA82-40EE-9EFE-25E5677017D4}"/>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Pydantic(파이댄틱), JSON Schema, 의미 검사</a:t>
            </a:r>
          </a:p>
        </p:txBody>
      </p:sp>
      <p:sp>
        <p:nvSpPr>
          <p:cNvPr id="34" name="">
            <a:extLst xmlns:a="http://schemas.openxmlformats.org/drawingml/2006/main">
              <a:ext uri="{FF2B5EF4-FFF2-40B4-BE49-F238E27FC236}">
                <a16:creationId xmlns:a16="http://schemas.microsoft.com/office/drawing/2014/main" id="{804D53C6-2FE9-4CB5-ADFD-DCB116FFCB44}"/>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C07D3C03-CCFF-4E52-B86E-FEA36051EB24}"/>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CF715655-5359-4E36-A6D1-78EA10042380}"/>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8E4CCCA7-24C3-4681-8A50-9BBF9CB8D7D4}"/>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F58EB475-9DB8-437B-B44D-E5CC1444B20D}"/>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713459767"/>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90B5EEC-B71C-44F3-A129-F28565111BB2}"/>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9EB7D146-E8C0-4248-84FC-92A014E08FEB}"/>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817C655B-2D3E-4F22-81F8-12088028B5F0}"/>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890722-C940-4A9E-A1C2-E3213490EC5F}"/>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1BF17C27-DD39-42CF-A8FE-69E790913B70}"/>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CB6DFF61-4C53-46F1-8498-750DB8A58514}"/>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4095CFAC-5FA4-4536-9C47-38E98259E6E9}"/>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38ADCC5B-8A5A-4124-A6EE-C7FB74B598BC}"/>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32A7F423-A81A-476C-86D4-DC23E0CE659C}"/>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A6AB72C8-37AE-426B-82EC-3E05E9BEF2EA}"/>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0E4CBC9F-9770-4B4C-9114-55E386EBD097}"/>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AA7B880F-9194-46CC-B277-7878D6D7A214}"/>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CD85978B-90E4-4AE4-BA26-AB3D8E53FF26}"/>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두 모델의 자연스러움, 반복 표현과 원문 복구율 비교</a:t>
            </a:r>
          </a:p>
        </p:txBody>
      </p:sp>
      <p:sp>
        <p:nvSpPr>
          <p:cNvPr id="14" name="">
            <a:extLst xmlns:a="http://schemas.openxmlformats.org/drawingml/2006/main">
              <a:ext uri="{FF2B5EF4-FFF2-40B4-BE49-F238E27FC236}">
                <a16:creationId xmlns:a16="http://schemas.microsoft.com/office/drawing/2014/main" id="{43977A85-A982-4625-823A-2805EA27F6F3}"/>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14DFF50C-2079-4396-8BB3-D0C239E2968F}"/>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297134EA-6260-4DCA-BC80-A09631D18D94}"/>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C5B4B8E1-BB25-4714-AF42-2EF96FF09E43}"/>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17C18448-5636-4BC2-9786-8A97643E590E}"/>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D9F6D724-DD4D-42D2-A964-2EBC49401FA7}"/>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2012547919"/>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E5B425-28B7-4604-BF6E-D3FA96D907B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7B798E96-8C25-4D73-8AD0-1FFC85AB0C23}"/>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6910A17D-C5CA-43DB-983C-C5BD26E30F72}"/>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75F7B1-979C-412E-B3C3-78EAD7F6953F}"/>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150471E-2A49-4131-ADCB-4D02243FBBD5}"/>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807848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2026-09-27T13:28:58.1150000Z</dcterms:created>
  <dcterms:modified xsi:type="dcterms:W3CDTF">2026-09-27T13:28:58.1150000Z</dcterms:modified>
</coreProperties>
</file>