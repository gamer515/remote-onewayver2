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24b00ea42a427f" /><Relationship Type="http://schemas.openxmlformats.org/officeDocument/2006/relationships/extended-properties" Target="/docProps/app.xml" Id="R46bde846d1b449ab" /><Relationship Type="http://schemas.openxmlformats.org/officeDocument/2006/relationships/officeDocument" Target="/ppt/presentation.xml" Id="R4976844856774f1b" /></Relationships>
</file>

<file path=ppt/presentation.xml><?xml version="1.0" encoding="utf-8"?>
<p:presentation xmlns:p="http://schemas.openxmlformats.org/presentationml/2006/main">
  <p:sldMasterIdLst>
    <p:sldMasterId xmlns:r="http://schemas.openxmlformats.org/officeDocument/2006/relationships" id="2147483648" r:id="R8ae80e60154e4bea"/>
  </p:sldMasterIdLst>
  <p:notesMasterIdLst>
    <p:notesMasterId xmlns:r="http://schemas.openxmlformats.org/officeDocument/2006/relationships" r:id="Raa31f7721050491e"/>
  </p:notesMasterIdLst>
  <p:sldIdLst>
    <p:sldId xmlns:r="http://schemas.openxmlformats.org/officeDocument/2006/relationships" id="256" r:id="Reec9ab6a5ed84c58"/>
    <p:sldId xmlns:r="http://schemas.openxmlformats.org/officeDocument/2006/relationships" id="257" r:id="Re85cd283da61423b"/>
    <p:sldId xmlns:r="http://schemas.openxmlformats.org/officeDocument/2006/relationships" id="258" r:id="Rf2d3afc41ede4795"/>
    <p:sldId xmlns:r="http://schemas.openxmlformats.org/officeDocument/2006/relationships" id="259" r:id="R0d6c3f16d7714367"/>
    <p:sldId xmlns:r="http://schemas.openxmlformats.org/officeDocument/2006/relationships" id="260" r:id="Re0e7138bda074fb9"/>
    <p:sldId xmlns:r="http://schemas.openxmlformats.org/officeDocument/2006/relationships" id="261" r:id="Rbfe00b1d9ba940f6"/>
    <p:sldId xmlns:r="http://schemas.openxmlformats.org/officeDocument/2006/relationships" id="262" r:id="R939f3e52ca9f4b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7b56ec7e7b4efb" /><Relationship Type="http://schemas.openxmlformats.org/officeDocument/2006/relationships/slideMaster" Target="/ppt/slideMasters/slideMaster1.xml" Id="R8ae80e60154e4bea" /><Relationship Type="http://schemas.openxmlformats.org/officeDocument/2006/relationships/notesMaster" Target="/ppt/notesMasters/notesMaster1.xml" Id="Raa31f7721050491e" /><Relationship Type="http://schemas.openxmlformats.org/officeDocument/2006/relationships/presProps" Target="/ppt/presProps.xml" Id="Rcd7b2bd6f41d460b" /><Relationship Type="http://schemas.openxmlformats.org/officeDocument/2006/relationships/tableStyles" Target="/ppt/tableStyles.xml" Id="R2101f038aa844bc4" /><Relationship Type="http://schemas.openxmlformats.org/officeDocument/2006/relationships/slide" Target="/ppt/slides/slide1.xml" Id="Reec9ab6a5ed84c58" /><Relationship Type="http://schemas.openxmlformats.org/officeDocument/2006/relationships/slide" Target="/ppt/slides/slide2.xml" Id="Re85cd283da61423b" /><Relationship Type="http://schemas.openxmlformats.org/officeDocument/2006/relationships/slide" Target="/ppt/slides/slide3.xml" Id="Rf2d3afc41ede4795" /><Relationship Type="http://schemas.openxmlformats.org/officeDocument/2006/relationships/slide" Target="/ppt/slides/slide4.xml" Id="R0d6c3f16d7714367" /><Relationship Type="http://schemas.openxmlformats.org/officeDocument/2006/relationships/slide" Target="/ppt/slides/slide5.xml" Id="Re0e7138bda074fb9" /><Relationship Type="http://schemas.openxmlformats.org/officeDocument/2006/relationships/slide" Target="/ppt/slides/slide6.xml" Id="Rbfe00b1d9ba940f6" /><Relationship Type="http://schemas.openxmlformats.org/officeDocument/2006/relationships/slide" Target="/ppt/slides/slide7.xml" Id="R939f3e52ca9f4b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bb69c7d7a244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2681154ffa43c0" /><Relationship Type="http://schemas.openxmlformats.org/officeDocument/2006/relationships/notesMaster" Target="/ppt/notesMasters/notesMaster1.xml" Id="R0e51558804d84a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601f8004d4c92" /><Relationship Type="http://schemas.openxmlformats.org/officeDocument/2006/relationships/notesMaster" Target="/ppt/notesMasters/notesMaster1.xml" Id="R80afda6af458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9a7fb243d442bf" /><Relationship Type="http://schemas.openxmlformats.org/officeDocument/2006/relationships/notesMaster" Target="/ppt/notesMasters/notesMaster1.xml" Id="Rd1cbb085812144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2cd645f15e4b9f" /><Relationship Type="http://schemas.openxmlformats.org/officeDocument/2006/relationships/notesMaster" Target="/ppt/notesMasters/notesMaster1.xml" Id="R1f9689f9e07f4a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2a06ae2c354af0" /><Relationship Type="http://schemas.openxmlformats.org/officeDocument/2006/relationships/notesMaster" Target="/ppt/notesMasters/notesMaster1.xml" Id="Rb56a1afaeffc48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a4fd54dee64858" /><Relationship Type="http://schemas.openxmlformats.org/officeDocument/2006/relationships/notesMaster" Target="/ppt/notesMasters/notesMaster1.xml" Id="R0c7e630d040e43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c2c9a3115a4368" /><Relationship Type="http://schemas.openxmlformats.org/officeDocument/2006/relationships/notesMaster" Target="/ppt/notesMasters/notesMaster1.xml" Id="R2997320a0cd349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플레이어는 조작기로 terrain을 탐색하고 인물과 대화합니다. 선택을 통해 능력치를 관리하고, 상황에 맞는 퀘스트와 미니게임을 수행합니다. 여기서 얻은 보상과 해금 상태를 쌓아 각 챕터의 전투를 준비합니다. 저는 이 흐름에서 이야기 변화, 환경 구성과 미니게임 결과의 연결을 구현합니다.</a:t>
            </a:r>
          </a:p>
          <a:p xmlns:a="http://schemas.openxmlformats.org/drawingml/2006/main">
            <a:r>
              <a:t>이미지: OpenAI ImageGen으로 제작한 프로젝트 설명용 개념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Reigns는 미리 작성된 카드에서 좌우 선택을 하고 네 지표의 균형을 관리합니다. 저희 게임은 이 선택 구조에 이전 플레이 기록을 반영하는 로컬 한국어 LLM과 실제 terrain·퀘스트·미니게임 연결을 추가합니다. 현재 코드는 입력 형식이 정규식에 의존하고 한국어 이름 보호와 의미 검사가 부족합니다. 따라서 버전이 있는 JSON에 변경 금지 인물과 장소를 명시하고, 이전과 다음 대사를 함께 제공하겠습니다. 같은 입력에서 후보 세 개를 만든 뒤 규칙, 의미, 루트 검사를 통과한 결과만 사용하고 모두 실패하면 원문으로 복구하겠습니다. 이 구조를 먼저 안정화한 뒤 Kanana 1.3B와 3B를 같은 평가셋으로 비교하겠습니다.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업무도 개선 구조에 맞춰 네 단계로 정리했습니다. 먼저 JSON 입력 형식과 변경 금지 항목을 정의합니다. 다음으로 Kanana 1.3B와 3B를 같은 데이터로 비교하고, 규칙·의미·루트 검증과 원문 복구를 구현합니다. 마지막으로 검증된 결과만 terrain과 대화, 미니게임에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Pydantic과 JSON Schema로 입력을 먼저 검사합니다. 이전과 다음 대사를 포함해 후보 세 개를 생성한 뒤, 규칙·의미·루트 검사를 통과한 결과만 선택합니다. 검증된 결과는 Unity의 대화와 terrain, 미니게임에 반영합니다. 좋은 결과와 실패 이유는 함께 저장하여 이후 LoRA 파인튜닝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331f2c91d45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5bb0ad062a47ca" /><Relationship Type="http://schemas.openxmlformats.org/officeDocument/2006/relationships/slideLayout" Target="/ppt/slideLayouts/slideLayout1.xml" Id="Rb1e6ba38bce14a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e6ba38bce14a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bf44d3a27946a9" /><Relationship Type="http://schemas.openxmlformats.org/officeDocument/2006/relationships/notesSlide" Target="/ppt/notesSlides/notesSlide1.xml" Id="R6d01c0d679df41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831a088e9247b3" /><Relationship Type="http://schemas.openxmlformats.org/officeDocument/2006/relationships/image" Target="/ppt/media/image.png" Id="R2a9ee3778c584bc1" /><Relationship Type="http://schemas.openxmlformats.org/officeDocument/2006/relationships/notesSlide" Target="/ppt/notesSlides/notesSlide2.xml" Id="R5a2d5f8467274c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c2516c525a4aa8" /><Relationship Type="http://schemas.openxmlformats.org/officeDocument/2006/relationships/notesSlide" Target="/ppt/notesSlides/notesSlide3.xml" Id="Rca9087d3d95f44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2b5b8cde4a4ac4" /><Relationship Type="http://schemas.openxmlformats.org/officeDocument/2006/relationships/notesSlide" Target="/ppt/notesSlides/notesSlide4.xml" Id="Rb79c59ae0b2045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80ec59722c432e" /><Relationship Type="http://schemas.openxmlformats.org/officeDocument/2006/relationships/notesSlide" Target="/ppt/notesSlides/notesSlide5.xml" Id="R7ce37bd85a9947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920c4be7874889" /><Relationship Type="http://schemas.openxmlformats.org/officeDocument/2006/relationships/notesSlide" Target="/ppt/notesSlides/notesSlide6.xml" Id="Rca07aca34dd647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84cd60e70641bc" /><Relationship Type="http://schemas.openxmlformats.org/officeDocument/2006/relationships/notesSlide" Target="/ppt/notesSlides/notesSlide7.xml" Id="R32322146364342c9"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F5D2F7-74E4-466F-A60A-EC82BED187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F0FE34-2BEF-411A-A078-9C1C62D6D743}"/>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94C60C82-D7CA-4BD5-A253-20A69D1EB671}"/>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4A3F8C60-183A-4297-A881-F21B69E174E4}"/>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C40F552F-3773-46D3-A913-30C111CE3503}"/>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8CFFBF-4371-4456-842F-2D11972F812B}"/>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1EACB700-7494-41AF-BC39-35C77196B3BF}"/>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92ADAC38-6131-4EEF-BD1D-1F11826C3E90}"/>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2369E67F-8FED-42EA-87A0-3D14FDC6A985}"/>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466028989"/>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71C6FA7-4A42-48C9-BBF8-E2E98DF8F13F}"/>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4DA6F12C-1523-45D2-8D89-D93770BB8496}"/>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0D0A0F9B-9AC6-4783-9235-D2BC43A7D2A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a9ee3778c584bc1"/>
          <a:srcRect xmlns:a="http://schemas.openxmlformats.org/drawingml/2006/main" l="0" t="16839" r="0" b="16839"/>
          <a:stretch xmlns:a="http://schemas.openxmlformats.org/drawingml/2006/main">
            <a:fillRect l="0" t="0" r="0" b="0"/>
          </a:stretch>
        </p:blipFill>
        <p:spPr>
          <a:xfrm xmlns:a="http://schemas.openxmlformats.org/drawingml/2006/main">
            <a:off x="609600" y="1238250"/>
            <a:ext cx="10972800" cy="4095750"/>
          </a:xfrm>
          <a:prstGeom xmlns:a="http://schemas.openxmlformats.org/drawingml/2006/main" prst="roundRect">
            <a:avLst>
              <a:gd name="adj" fmla="val 4186"/>
            </a:avLst>
          </a:prstGeom>
        </p:spPr>
      </p:pic>
      <p:sp>
        <p:nvSpPr>
          <p:cNvPr id="5" name="">
            <a:extLst xmlns:a="http://schemas.openxmlformats.org/drawingml/2006/main">
              <a:ext uri="{FF2B5EF4-FFF2-40B4-BE49-F238E27FC236}">
                <a16:creationId xmlns:a16="http://schemas.microsoft.com/office/drawing/2014/main" id="{C19CF276-60F7-4E99-8A0B-95DFA22C75F5}"/>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D73376-2B7F-4E5B-B428-CC0142FE67F0}"/>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0FD46170-7806-4322-9147-3B29FAF5586F}"/>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8" name="">
            <a:extLst xmlns:a="http://schemas.openxmlformats.org/drawingml/2006/main">
              <a:ext uri="{FF2B5EF4-FFF2-40B4-BE49-F238E27FC236}">
                <a16:creationId xmlns:a16="http://schemas.microsoft.com/office/drawing/2014/main" id="{10B9727F-3632-482D-B8F8-0525E541DF62}"/>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B7B92D87-71FA-42E0-B945-D44DBDB91024}"/>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0" name="">
            <a:extLst xmlns:a="http://schemas.openxmlformats.org/drawingml/2006/main">
              <a:ext uri="{FF2B5EF4-FFF2-40B4-BE49-F238E27FC236}">
                <a16:creationId xmlns:a16="http://schemas.microsoft.com/office/drawing/2014/main" id="{8F9DAA17-9643-4BA3-A688-0B8BE03266F1}"/>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11" name="">
            <a:extLst xmlns:a="http://schemas.openxmlformats.org/drawingml/2006/main">
              <a:ext uri="{FF2B5EF4-FFF2-40B4-BE49-F238E27FC236}">
                <a16:creationId xmlns:a16="http://schemas.microsoft.com/office/drawing/2014/main" id="{A97855FF-FF18-40E4-9A7F-CA212063B58B}"/>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12" name="">
            <a:extLst xmlns:a="http://schemas.openxmlformats.org/drawingml/2006/main">
              <a:ext uri="{FF2B5EF4-FFF2-40B4-BE49-F238E27FC236}">
                <a16:creationId xmlns:a16="http://schemas.microsoft.com/office/drawing/2014/main" id="{B7D708C5-EF7E-4361-A15C-E5336FFE4E05}"/>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13" name="">
            <a:extLst xmlns:a="http://schemas.openxmlformats.org/drawingml/2006/main">
              <a:ext uri="{FF2B5EF4-FFF2-40B4-BE49-F238E27FC236}">
                <a16:creationId xmlns:a16="http://schemas.microsoft.com/office/drawing/2014/main" id="{B7D65867-0299-4748-A6E1-A001EAF4E864}"/>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14" name="">
            <a:extLst xmlns:a="http://schemas.openxmlformats.org/drawingml/2006/main">
              <a:ext uri="{FF2B5EF4-FFF2-40B4-BE49-F238E27FC236}">
                <a16:creationId xmlns:a16="http://schemas.microsoft.com/office/drawing/2014/main" id="{D45C373A-8BC1-414B-8C42-F2F947E92337}"/>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15" name="">
            <a:extLst xmlns:a="http://schemas.openxmlformats.org/drawingml/2006/main">
              <a:ext uri="{FF2B5EF4-FFF2-40B4-BE49-F238E27FC236}">
                <a16:creationId xmlns:a16="http://schemas.microsoft.com/office/drawing/2014/main" id="{6A15E962-01BF-48D2-A1A3-878C42D4F090}"/>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16" name="">
            <a:extLst xmlns:a="http://schemas.openxmlformats.org/drawingml/2006/main">
              <a:ext uri="{FF2B5EF4-FFF2-40B4-BE49-F238E27FC236}">
                <a16:creationId xmlns:a16="http://schemas.microsoft.com/office/drawing/2014/main" id="{E42057D1-9FB3-4D03-9373-1F43624BFCC8}"/>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151325648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D16297C-E5CF-4CB6-935C-B599FBA949A6}"/>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236A477A-FEEF-4126-9975-7574C835AE0C}"/>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70D195CF-532D-406A-B768-C63110434C6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C64997-663B-45FE-9222-4E8D62310AE7}"/>
              </a:ext>
            </a:extLst>
          </p:cNvPr>
          <p:cNvSpPr>
            <a:spLocks xmlns:a="http://schemas.openxmlformats.org/drawingml/2006/main" noGrp="1"/>
          </p:cNvSpPr>
          <p:nvPr/>
        </p:nvSpPr>
        <p:spPr>
          <a:xfrm xmlns:a="http://schemas.openxmlformats.org/drawingml/2006/main">
            <a:off x="723900" y="1314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Reigns</a:t>
            </a:r>
          </a:p>
        </p:txBody>
      </p:sp>
      <p:sp>
        <p:nvSpPr>
          <p:cNvPr id="5" name="">
            <a:extLst xmlns:a="http://schemas.openxmlformats.org/drawingml/2006/main">
              <a:ext uri="{FF2B5EF4-FFF2-40B4-BE49-F238E27FC236}">
                <a16:creationId xmlns:a16="http://schemas.microsoft.com/office/drawing/2014/main" id="{6A6634B8-391E-4B06-A16F-813E6D9C297B}"/>
              </a:ext>
            </a:extLst>
          </p:cNvPr>
          <p:cNvSpPr>
            <a:spLocks xmlns:a="http://schemas.openxmlformats.org/drawingml/2006/main" noGrp="1"/>
          </p:cNvSpPr>
          <p:nvPr/>
        </p:nvSpPr>
        <p:spPr>
          <a:xfrm xmlns:a="http://schemas.openxmlformats.org/drawingml/2006/main">
            <a:off x="723900" y="1790700"/>
            <a:ext cx="4000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정해진 카드에서 좌우 선택</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네 지표의 균형을 유지</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목표 달성으로 카드 해금</a:t>
            </a:r>
          </a:p>
        </p:txBody>
      </p:sp>
      <p:sp>
        <p:nvSpPr>
          <p:cNvPr id="6" name="">
            <a:extLst xmlns:a="http://schemas.openxmlformats.org/drawingml/2006/main">
              <a:ext uri="{FF2B5EF4-FFF2-40B4-BE49-F238E27FC236}">
                <a16:creationId xmlns:a16="http://schemas.microsoft.com/office/drawing/2014/main" id="{01C89E13-1137-425D-B6C5-FDBAFEA13E48}"/>
              </a:ext>
            </a:extLst>
          </p:cNvPr>
          <p:cNvSpPr>
            <a:spLocks xmlns:a="http://schemas.openxmlformats.org/drawingml/2006/main" noGrp="1"/>
          </p:cNvSpPr>
          <p:nvPr/>
        </p:nvSpPr>
        <p:spPr>
          <a:xfrm xmlns:a="http://schemas.openxmlformats.org/drawingml/2006/main">
            <a:off x="4933950" y="1390650"/>
            <a:ext cx="19050" cy="17335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281825B-1C6B-4EB5-8D96-190087946CAE}"/>
              </a:ext>
            </a:extLst>
          </p:cNvPr>
          <p:cNvSpPr>
            <a:spLocks xmlns:a="http://schemas.openxmlformats.org/drawingml/2006/main" noGrp="1"/>
          </p:cNvSpPr>
          <p:nvPr/>
        </p:nvSpPr>
        <p:spPr>
          <a:xfrm xmlns:a="http://schemas.openxmlformats.org/drawingml/2006/main">
            <a:off x="5391150" y="13144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본 프로젝트</a:t>
            </a:r>
          </a:p>
        </p:txBody>
      </p:sp>
      <p:sp>
        <p:nvSpPr>
          <p:cNvPr id="8" name="">
            <a:extLst xmlns:a="http://schemas.openxmlformats.org/drawingml/2006/main">
              <a:ext uri="{FF2B5EF4-FFF2-40B4-BE49-F238E27FC236}">
                <a16:creationId xmlns:a16="http://schemas.microsoft.com/office/drawing/2014/main" id="{468953A0-7AD5-4BF9-B785-8BC741E83600}"/>
              </a:ext>
            </a:extLst>
          </p:cNvPr>
          <p:cNvSpPr>
            <a:spLocks xmlns:a="http://schemas.openxmlformats.org/drawingml/2006/main" noGrp="1"/>
          </p:cNvSpPr>
          <p:nvPr/>
        </p:nvSpPr>
        <p:spPr>
          <a:xfrm xmlns:a="http://schemas.openxmlformats.org/drawingml/2006/main">
            <a:off x="5391150" y="1790700"/>
            <a:ext cx="60388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이전 플레이 기록으로 허용 문장 변화</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한국어 LLM을 게임 내부에서 실행</a:t>
            </a:r>
          </a:p>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결과를 terrain·퀘스트·미니게임과 연결</a:t>
            </a:r>
          </a:p>
        </p:txBody>
      </p:sp>
      <p:sp>
        <p:nvSpPr>
          <p:cNvPr id="9" name="">
            <a:extLst xmlns:a="http://schemas.openxmlformats.org/drawingml/2006/main">
              <a:ext uri="{FF2B5EF4-FFF2-40B4-BE49-F238E27FC236}">
                <a16:creationId xmlns:a16="http://schemas.microsoft.com/office/drawing/2014/main" id="{0C5FEB97-C5F4-4108-B5F5-9D3EBF2CB57A}"/>
              </a:ext>
            </a:extLst>
          </p:cNvPr>
          <p:cNvSpPr>
            <a:spLocks xmlns:a="http://schemas.openxmlformats.org/drawingml/2006/main" noGrp="1"/>
          </p:cNvSpPr>
          <p:nvPr/>
        </p:nvSpPr>
        <p:spPr>
          <a:xfrm xmlns:a="http://schemas.openxmlformats.org/drawingml/2006/main">
            <a:off x="723900" y="3352800"/>
            <a:ext cx="4000500" cy="2324100"/>
          </a:xfrm>
          <a:prstGeom xmlns:a="http://schemas.openxmlformats.org/drawingml/2006/main" prst="roundRect">
            <a:avLst>
              <a:gd name="adj" fmla="val 6557"/>
            </a:avLst>
          </a:prstGeom>
          <a:solidFill xmlns:a="http://schemas.openxmlformats.org/drawingml/2006/main">
            <a:srgbClr val="F6E6DA"/>
          </a:solidFill>
          <a:ln xmlns:a="http://schemas.openxmlformats.org/drawingml/2006/main" w="9525">
            <a:solidFill>
              <a:srgbClr val="D9854F"/>
            </a:solidFill>
            <a:prstDash val="solid"/>
          </a:ln>
        </p:spPr>
      </p:sp>
      <p:sp>
        <p:nvSpPr>
          <p:cNvPr id="10" name="">
            <a:extLst xmlns:a="http://schemas.openxmlformats.org/drawingml/2006/main">
              <a:ext uri="{FF2B5EF4-FFF2-40B4-BE49-F238E27FC236}">
                <a16:creationId xmlns:a16="http://schemas.microsoft.com/office/drawing/2014/main" id="{D723A016-DDB2-40FF-93B6-DB1AF198B3EF}"/>
              </a:ext>
            </a:extLst>
          </p:cNvPr>
          <p:cNvSpPr>
            <a:spLocks xmlns:a="http://schemas.openxmlformats.org/drawingml/2006/main" noGrp="1"/>
          </p:cNvSpPr>
          <p:nvPr/>
        </p:nvSpPr>
        <p:spPr>
          <a:xfrm xmlns:a="http://schemas.openxmlformats.org/drawingml/2006/main">
            <a:off x="97155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부족한 점</a:t>
            </a:r>
          </a:p>
        </p:txBody>
      </p:sp>
      <p:sp>
        <p:nvSpPr>
          <p:cNvPr id="11" name="">
            <a:extLst xmlns:a="http://schemas.openxmlformats.org/drawingml/2006/main">
              <a:ext uri="{FF2B5EF4-FFF2-40B4-BE49-F238E27FC236}">
                <a16:creationId xmlns:a16="http://schemas.microsoft.com/office/drawing/2014/main" id="{6DA2FF00-0301-434F-B614-7B3E2FC775AB}"/>
              </a:ext>
            </a:extLst>
          </p:cNvPr>
          <p:cNvSpPr>
            <a:spLocks xmlns:a="http://schemas.openxmlformats.org/drawingml/2006/main" noGrp="1"/>
          </p:cNvSpPr>
          <p:nvPr/>
        </p:nvSpPr>
        <p:spPr>
          <a:xfrm xmlns:a="http://schemas.openxmlformats.org/drawingml/2006/main">
            <a:off x="971550" y="4076700"/>
            <a:ext cx="3429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입력 형식이 정규식에 의존</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한국어 인물·장소 보호가 부족</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문자열 유사도만으로 의미를 판단</a:t>
            </a:r>
          </a:p>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한 번 생성한 결과에 의존</a:t>
            </a:r>
          </a:p>
        </p:txBody>
      </p:sp>
      <p:sp>
        <p:nvSpPr>
          <p:cNvPr id="12" name="">
            <a:extLst xmlns:a="http://schemas.openxmlformats.org/drawingml/2006/main">
              <a:ext uri="{FF2B5EF4-FFF2-40B4-BE49-F238E27FC236}">
                <a16:creationId xmlns:a16="http://schemas.microsoft.com/office/drawing/2014/main" id="{A5391596-B84A-4B04-85B2-80C0ABCF99B6}"/>
              </a:ext>
            </a:extLst>
          </p:cNvPr>
          <p:cNvSpPr>
            <a:spLocks xmlns:a="http://schemas.openxmlformats.org/drawingml/2006/main" noGrp="1"/>
          </p:cNvSpPr>
          <p:nvPr/>
        </p:nvSpPr>
        <p:spPr>
          <a:xfrm xmlns:a="http://schemas.openxmlformats.org/drawingml/2006/main">
            <a:off x="5334000" y="3390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구조</a:t>
            </a:r>
          </a:p>
        </p:txBody>
      </p:sp>
      <p:sp>
        <p:nvSpPr>
          <p:cNvPr id="13" name="">
            <a:extLst xmlns:a="http://schemas.openxmlformats.org/drawingml/2006/main">
              <a:ext uri="{FF2B5EF4-FFF2-40B4-BE49-F238E27FC236}">
                <a16:creationId xmlns:a16="http://schemas.microsoft.com/office/drawing/2014/main" id="{90DD0C4D-50CD-4C6F-914F-413F619EAF22}"/>
              </a:ext>
            </a:extLst>
          </p:cNvPr>
          <p:cNvSpPr>
            <a:spLocks xmlns:a="http://schemas.openxmlformats.org/drawingml/2006/main" noGrp="1"/>
          </p:cNvSpPr>
          <p:nvPr/>
        </p:nvSpPr>
        <p:spPr>
          <a:xfrm xmlns:a="http://schemas.openxmlformats.org/drawingml/2006/main">
            <a:off x="5334000" y="39052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1</a:t>
            </a:r>
          </a:p>
        </p:txBody>
      </p:sp>
      <p:sp>
        <p:nvSpPr>
          <p:cNvPr id="14" name="">
            <a:extLst xmlns:a="http://schemas.openxmlformats.org/drawingml/2006/main">
              <a:ext uri="{FF2B5EF4-FFF2-40B4-BE49-F238E27FC236}">
                <a16:creationId xmlns:a16="http://schemas.microsoft.com/office/drawing/2014/main" id="{1E1FFA39-A498-4964-BF42-674ED6650585}"/>
              </a:ext>
            </a:extLst>
          </p:cNvPr>
          <p:cNvSpPr>
            <a:spLocks xmlns:a="http://schemas.openxmlformats.org/drawingml/2006/main" noGrp="1"/>
          </p:cNvSpPr>
          <p:nvPr/>
        </p:nvSpPr>
        <p:spPr>
          <a:xfrm xmlns:a="http://schemas.openxmlformats.org/drawingml/2006/main">
            <a:off x="5810250" y="38862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버전이 있는 JSON과 변경 금지 목록 사용</a:t>
            </a:r>
          </a:p>
        </p:txBody>
      </p:sp>
      <p:sp>
        <p:nvSpPr>
          <p:cNvPr id="15" name="">
            <a:extLst xmlns:a="http://schemas.openxmlformats.org/drawingml/2006/main">
              <a:ext uri="{FF2B5EF4-FFF2-40B4-BE49-F238E27FC236}">
                <a16:creationId xmlns:a16="http://schemas.microsoft.com/office/drawing/2014/main" id="{0C8D5D58-618E-4306-850E-55B3671E006A}"/>
              </a:ext>
            </a:extLst>
          </p:cNvPr>
          <p:cNvSpPr>
            <a:spLocks xmlns:a="http://schemas.openxmlformats.org/drawingml/2006/main" noGrp="1"/>
          </p:cNvSpPr>
          <p:nvPr/>
        </p:nvSpPr>
        <p:spPr>
          <a:xfrm xmlns:a="http://schemas.openxmlformats.org/drawingml/2006/main">
            <a:off x="5334000" y="43624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2</a:t>
            </a:r>
          </a:p>
        </p:txBody>
      </p:sp>
      <p:sp>
        <p:nvSpPr>
          <p:cNvPr id="16" name="">
            <a:extLst xmlns:a="http://schemas.openxmlformats.org/drawingml/2006/main">
              <a:ext uri="{FF2B5EF4-FFF2-40B4-BE49-F238E27FC236}">
                <a16:creationId xmlns:a16="http://schemas.microsoft.com/office/drawing/2014/main" id="{A206CCBB-84DA-48DB-A1C7-33045C8FBF5A}"/>
              </a:ext>
            </a:extLst>
          </p:cNvPr>
          <p:cNvSpPr>
            <a:spLocks xmlns:a="http://schemas.openxmlformats.org/drawingml/2006/main" noGrp="1"/>
          </p:cNvSpPr>
          <p:nvPr/>
        </p:nvSpPr>
        <p:spPr>
          <a:xfrm xmlns:a="http://schemas.openxmlformats.org/drawingml/2006/main">
            <a:off x="5810250" y="43434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이전·다음 대사를 함께 제공해 문맥 유지</a:t>
            </a:r>
          </a:p>
        </p:txBody>
      </p:sp>
      <p:sp>
        <p:nvSpPr>
          <p:cNvPr id="17" name="">
            <a:extLst xmlns:a="http://schemas.openxmlformats.org/drawingml/2006/main">
              <a:ext uri="{FF2B5EF4-FFF2-40B4-BE49-F238E27FC236}">
                <a16:creationId xmlns:a16="http://schemas.microsoft.com/office/drawing/2014/main" id="{D34A6F1F-B70A-4605-A9E4-401D13021992}"/>
              </a:ext>
            </a:extLst>
          </p:cNvPr>
          <p:cNvSpPr>
            <a:spLocks xmlns:a="http://schemas.openxmlformats.org/drawingml/2006/main" noGrp="1"/>
          </p:cNvSpPr>
          <p:nvPr/>
        </p:nvSpPr>
        <p:spPr>
          <a:xfrm xmlns:a="http://schemas.openxmlformats.org/drawingml/2006/main">
            <a:off x="5334000" y="48196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3</a:t>
            </a:r>
          </a:p>
        </p:txBody>
      </p:sp>
      <p:sp>
        <p:nvSpPr>
          <p:cNvPr id="18" name="">
            <a:extLst xmlns:a="http://schemas.openxmlformats.org/drawingml/2006/main">
              <a:ext uri="{FF2B5EF4-FFF2-40B4-BE49-F238E27FC236}">
                <a16:creationId xmlns:a16="http://schemas.microsoft.com/office/drawing/2014/main" id="{04D2405D-BB6F-4686-980A-BF96AB13BC86}"/>
              </a:ext>
            </a:extLst>
          </p:cNvPr>
          <p:cNvSpPr>
            <a:spLocks xmlns:a="http://schemas.openxmlformats.org/drawingml/2006/main" noGrp="1"/>
          </p:cNvSpPr>
          <p:nvPr/>
        </p:nvSpPr>
        <p:spPr>
          <a:xfrm xmlns:a="http://schemas.openxmlformats.org/drawingml/2006/main">
            <a:off x="5810250" y="48006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173042"/>
                </a:solidFill>
                <a:latin typeface="Noto Sans KR"/>
                <a:ea typeface="Noto Sans KR"/>
                <a:cs typeface="Noto Sans KR"/>
              </a:defRPr>
            </a:pPr>
            <a:r>
              <a:rPr sz="1500" b="0">
                <a:solidFill>
                  <a:srgbClr val="173042"/>
                </a:solidFill>
                <a:latin typeface="Noto Sans KR"/>
                <a:ea typeface="Noto Sans KR"/>
                <a:cs typeface="Noto Sans KR"/>
              </a:rPr>
              <a:t>후보 3개를 생성하고 가장 안전한 결과 선택</a:t>
            </a:r>
          </a:p>
        </p:txBody>
      </p:sp>
      <p:sp>
        <p:nvSpPr>
          <p:cNvPr id="19" name="">
            <a:extLst xmlns:a="http://schemas.openxmlformats.org/drawingml/2006/main">
              <a:ext uri="{FF2B5EF4-FFF2-40B4-BE49-F238E27FC236}">
                <a16:creationId xmlns:a16="http://schemas.microsoft.com/office/drawing/2014/main" id="{5D205B75-8F4E-493C-BCE3-65152B3395BC}"/>
              </a:ext>
            </a:extLst>
          </p:cNvPr>
          <p:cNvSpPr>
            <a:spLocks xmlns:a="http://schemas.openxmlformats.org/drawingml/2006/main" noGrp="1"/>
          </p:cNvSpPr>
          <p:nvPr/>
        </p:nvSpPr>
        <p:spPr>
          <a:xfrm xmlns:a="http://schemas.openxmlformats.org/drawingml/2006/main">
            <a:off x="5334000" y="5276850"/>
            <a:ext cx="323850" cy="3238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4</a:t>
            </a:r>
          </a:p>
        </p:txBody>
      </p:sp>
      <p:sp>
        <p:nvSpPr>
          <p:cNvPr id="20" name="">
            <a:extLst xmlns:a="http://schemas.openxmlformats.org/drawingml/2006/main">
              <a:ext uri="{FF2B5EF4-FFF2-40B4-BE49-F238E27FC236}">
                <a16:creationId xmlns:a16="http://schemas.microsoft.com/office/drawing/2014/main" id="{7D84DEC6-E5EF-4B22-AEE2-8DAB97A632DF}"/>
              </a:ext>
            </a:extLst>
          </p:cNvPr>
          <p:cNvSpPr>
            <a:spLocks xmlns:a="http://schemas.openxmlformats.org/drawingml/2006/main" noGrp="1"/>
          </p:cNvSpPr>
          <p:nvPr/>
        </p:nvSpPr>
        <p:spPr>
          <a:xfrm xmlns:a="http://schemas.openxmlformats.org/drawingml/2006/main">
            <a:off x="5810250" y="52578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규칙·의미·루트 검사 후 실패 시 원문 복구</a:t>
            </a:r>
          </a:p>
        </p:txBody>
      </p:sp>
      <p:sp>
        <p:nvSpPr>
          <p:cNvPr id="21" name="">
            <a:extLst xmlns:a="http://schemas.openxmlformats.org/drawingml/2006/main">
              <a:ext uri="{FF2B5EF4-FFF2-40B4-BE49-F238E27FC236}">
                <a16:creationId xmlns:a16="http://schemas.microsoft.com/office/drawing/2014/main" id="{A58935C5-727C-435B-A788-8E0249C71537}"/>
              </a:ext>
            </a:extLst>
          </p:cNvPr>
          <p:cNvSpPr>
            <a:spLocks xmlns:a="http://schemas.openxmlformats.org/drawingml/2006/main" noGrp="1"/>
          </p:cNvSpPr>
          <p:nvPr/>
        </p:nvSpPr>
        <p:spPr>
          <a:xfrm xmlns:a="http://schemas.openxmlformats.org/drawingml/2006/main">
            <a:off x="723900" y="600075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입력과 검증 구조를 먼저 안정화한 뒤 Kanana 1.3B와 3B를 같은 평가셋으로 비교합니다.</a:t>
            </a:r>
          </a:p>
        </p:txBody>
      </p:sp>
    </p:spTree>
    <p:extLst>
      <p:ext uri="{BB962C8B-B14F-4D97-AF65-F5344CB8AC3E}">
        <p14:creationId xmlns:p14="http://schemas.microsoft.com/office/powerpoint/2010/main" val="892966633"/>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0ED1DB4-5205-426B-BEC7-15846FBA5590}"/>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1F0B08EA-BC7C-4E1B-B74D-6B27527CB8E8}"/>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9D3F6EBA-9A04-42AD-A4BE-883E4C042F8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5C036F-C590-462B-93E7-4A294A742B47}"/>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6C040336-CFD4-4D5D-8304-1E94A9094398}"/>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E4A7BD55-A3AF-441C-8910-82EC15DD6736}"/>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782445B2-55E0-45E3-84BE-FF2DC08A5B5E}"/>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AF4696-0899-43A9-A99D-226D8DFC005C}"/>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EF6F4371-1A02-4682-B34C-1398547702D8}"/>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3A74C2E9-443E-4DE1-9F5F-9B5A2FF01FBF}"/>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Kanana 1.3B·3B를 동일 조건에서 평가</a:t>
            </a:r>
          </a:p>
        </p:txBody>
      </p:sp>
      <p:sp>
        <p:nvSpPr>
          <p:cNvPr id="11" name="">
            <a:extLst xmlns:a="http://schemas.openxmlformats.org/drawingml/2006/main">
              <a:ext uri="{FF2B5EF4-FFF2-40B4-BE49-F238E27FC236}">
                <a16:creationId xmlns:a16="http://schemas.microsoft.com/office/drawing/2014/main" id="{17BB01E8-B1C1-4ACA-A370-74006AD14071}"/>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D3CCFB4-5E44-4222-B39B-5B71D6C95868}"/>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E4432DB2-4A49-4212-A3E2-DAFE5AF514E1}"/>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C72EC50C-D7E7-4FAA-9483-2963F7BDDEE8}"/>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7C181BED-9BC9-4340-97C6-544FDA370938}"/>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5422933-A82C-4FD0-91AA-0234585EF245}"/>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B46B8631-95E4-4717-A222-37D8B8014B9C}"/>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36A4AE20-9449-4350-8022-5BDB36A3152A}"/>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53D0FE1E-ABF3-496D-B987-AB4F38668EE6}"/>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313121346"/>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E38E424-9D6A-48AD-AAD3-F58250CC85A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49625900-A6C5-4652-A0AB-E7D63B6BD63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CFDF42D3-A91E-49EF-AB2B-523312786C6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16C414-4547-46FC-A6F0-7E32D8178CF1}"/>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3055BC2D-C9A2-4D9C-B2B1-1246D2201DF5}"/>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A6B058DD-FB22-4CC2-9A23-B3DDD4401DBF}"/>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048195A0-6809-4A3E-AD32-B379ECED6C72}"/>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3E27C027-01EA-4E78-B642-D7BB4240C66D}"/>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E7AB04-A722-4D0A-AADA-869C9BC31244}"/>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2AD4674C-5D4F-43D0-B7A7-9F3A9F4C6773}"/>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5169914C-BEE5-4114-BAF6-9DD701C68F4D}"/>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Pydantic·JSON</a:t>
            </a:r>
          </a:p>
        </p:txBody>
      </p:sp>
      <p:sp>
        <p:nvSpPr>
          <p:cNvPr id="12" name="">
            <a:extLst xmlns:a="http://schemas.openxmlformats.org/drawingml/2006/main">
              <a:ext uri="{FF2B5EF4-FFF2-40B4-BE49-F238E27FC236}">
                <a16:creationId xmlns:a16="http://schemas.microsoft.com/office/drawing/2014/main" id="{89414D98-83E2-45F8-9DAC-742D7759CC5E}"/>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592EB795-9D28-4A42-BB63-D43685AC305E}"/>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E40BD25-8773-4AC4-A02F-1230E7A52C4E}"/>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FB6F92EC-C322-42CD-ABB5-846DADF928BB}"/>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C52AAE6D-FB57-48CF-BDF5-9E3811BD65D6}"/>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Kanana·Transformers</a:t>
            </a:r>
          </a:p>
        </p:txBody>
      </p:sp>
      <p:sp>
        <p:nvSpPr>
          <p:cNvPr id="17" name="">
            <a:extLst xmlns:a="http://schemas.openxmlformats.org/drawingml/2006/main">
              <a:ext uri="{FF2B5EF4-FFF2-40B4-BE49-F238E27FC236}">
                <a16:creationId xmlns:a16="http://schemas.microsoft.com/office/drawing/2014/main" id="{747CDB29-B446-4BC6-9D60-0D0D8CC321BD}"/>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36544939-C5EE-4AED-A649-ACB96F404604}"/>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3853C4-8C52-428D-B7D3-8D12CB845AF2}"/>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43E576F1-EA01-41E6-B303-2A8E53B64A7B}"/>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034C3A1B-7C64-4346-93F9-5B4540984664}"/>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404A8215-8040-43DD-AEE2-731B35715621}"/>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5FFBB676-E7E4-4199-A3A4-5624E9A99E01}"/>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56B57D2-6DD2-4115-A115-7C3223227B94}"/>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4A789E80-DFBF-4443-A028-A46B08CCB1CE}"/>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92FBCF44-8D9E-4402-8DFD-C6122FF0E8B1}"/>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3BA8E978-7691-46F0-A7F2-3248CEDDCC6F}"/>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B93355C1-9460-4B57-B09E-6CFB0E84A686}"/>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7DE167C-071E-4C03-B5CF-8151CC446758}"/>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622A1D69-0E7B-4F8F-BEF1-7EEA6EBF4150}"/>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0882BF58-685F-48C9-BF73-FD9D6ABC4F19}"/>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Kanana 1.3B·3B 4-bit 비교 후 선정</a:t>
            </a:r>
          </a:p>
        </p:txBody>
      </p:sp>
      <p:sp>
        <p:nvSpPr>
          <p:cNvPr id="32" name="">
            <a:extLst xmlns:a="http://schemas.openxmlformats.org/drawingml/2006/main">
              <a:ext uri="{FF2B5EF4-FFF2-40B4-BE49-F238E27FC236}">
                <a16:creationId xmlns:a16="http://schemas.microsoft.com/office/drawing/2014/main" id="{8545B300-C6D2-4581-B6FE-FD5715040843}"/>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1D2397C3-EC79-451A-9C95-2B923E71AC66}"/>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 JSON Schema, 의미 유사도, 자동 테스트</a:t>
            </a:r>
          </a:p>
        </p:txBody>
      </p:sp>
      <p:sp>
        <p:nvSpPr>
          <p:cNvPr id="34" name="">
            <a:extLst xmlns:a="http://schemas.openxmlformats.org/drawingml/2006/main">
              <a:ext uri="{FF2B5EF4-FFF2-40B4-BE49-F238E27FC236}">
                <a16:creationId xmlns:a16="http://schemas.microsoft.com/office/drawing/2014/main" id="{5FB9FD92-7A48-4833-AF0E-34AA259FB567}"/>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D032AAE6-8508-4848-9B44-AF588A77E85E}"/>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3D62E5F1-C3EA-44E6-811A-8C8D5376F77D}"/>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F8260913-6D12-4D92-9A17-97D53A026DF9}"/>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89EBD609-889C-4C66-A017-615E561EE6FA}"/>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86541940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B2CE7F-7867-438F-AD2A-D6BFD436DB47}"/>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82D57FFB-4EC0-474E-BC14-99F0B5C44869}"/>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50A774BC-8EB4-411A-AFE0-04E527397E18}"/>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D8E0E0-4096-4177-A8DD-A617357E29F0}"/>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CFEE641D-2ABB-4C93-A31B-92390EC216AC}"/>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E76954FA-4A93-4DFF-8CD7-64CE0B0C56AC}"/>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EFE17DA5-3EEC-42BD-9A1E-4BC62232F0B1}"/>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62334D98-499B-4A5B-BD2F-08E9CCE1C0F9}"/>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DA5A76DC-0722-41C4-83B8-3F134AF47CC8}"/>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F948CEA8-A23A-4007-AE78-193B8528A5CE}"/>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0112B684-E9D9-436F-BC75-04943EC15A8D}"/>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C98B168B-7FDD-45F1-969C-ED86C7A4C87B}"/>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CEF3C1D7-8C75-46BF-ADD3-112D58497942}"/>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1.3B·3B의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1E3B44CA-0D93-471B-9741-D023AA924421}"/>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377E0D88-8EB0-4EBE-89D1-BA337920523C}"/>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A719F21B-83BF-4E15-9040-FE07F3FDAB08}"/>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0938B718-31A3-41C1-A5CB-5E50A2E967B1}"/>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3BB18517-F0DA-40A8-B39F-8E4163F6F123}"/>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C8C4C9FC-6894-4986-90C1-E321C31B6C07}"/>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128032035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4184FE-DBB1-4634-BB99-0F46F5DCA5FB}"/>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ACF332DB-9DD7-41AD-BB6E-646B159412D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13274F92-353C-41F3-806B-28EAD5BED6A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C24C12-B4F3-47F9-8D72-672B899A1654}"/>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A54AD25-2E96-4B96-803F-32120A1DE8BD}"/>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1523231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2026-09-27T10:03:23.1270000Z</dcterms:created>
  <dcterms:modified xsi:type="dcterms:W3CDTF">2026-09-27T10:03:23.1270000Z</dcterms:modified>
</coreProperties>
</file>