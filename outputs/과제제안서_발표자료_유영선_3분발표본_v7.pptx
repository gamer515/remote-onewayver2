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2b77f97d534419" /><Relationship Type="http://schemas.openxmlformats.org/officeDocument/2006/relationships/extended-properties" Target="/docProps/app.xml" Id="R6db41307e6184267" /><Relationship Type="http://schemas.openxmlformats.org/officeDocument/2006/relationships/officeDocument" Target="/ppt/presentation.xml" Id="Reba676d78ed543b5" /></Relationships>
</file>

<file path=ppt/presentation.xml><?xml version="1.0" encoding="utf-8"?>
<p:presentation xmlns:p="http://schemas.openxmlformats.org/presentationml/2006/main">
  <p:sldMasterIdLst>
    <p:sldMasterId xmlns:r="http://schemas.openxmlformats.org/officeDocument/2006/relationships" id="2147483648" r:id="R5f7042fabe0e4325"/>
  </p:sldMasterIdLst>
  <p:notesMasterIdLst>
    <p:notesMasterId xmlns:r="http://schemas.openxmlformats.org/officeDocument/2006/relationships" r:id="R85d82a2effe84f1e"/>
  </p:notesMasterIdLst>
  <p:sldIdLst>
    <p:sldId xmlns:r="http://schemas.openxmlformats.org/officeDocument/2006/relationships" id="256" r:id="R9845cf4ccf544c1a"/>
    <p:sldId xmlns:r="http://schemas.openxmlformats.org/officeDocument/2006/relationships" id="257" r:id="R7ab70462b30c453c"/>
    <p:sldId xmlns:r="http://schemas.openxmlformats.org/officeDocument/2006/relationships" id="258" r:id="R39e384eb237643ff"/>
    <p:sldId xmlns:r="http://schemas.openxmlformats.org/officeDocument/2006/relationships" id="259" r:id="R536fdf96df85463d"/>
    <p:sldId xmlns:r="http://schemas.openxmlformats.org/officeDocument/2006/relationships" id="260" r:id="R554c5ccbffea481c"/>
    <p:sldId xmlns:r="http://schemas.openxmlformats.org/officeDocument/2006/relationships" id="261" r:id="R38de75a63c124df9"/>
    <p:sldId xmlns:r="http://schemas.openxmlformats.org/officeDocument/2006/relationships" id="262" r:id="Redf4993026434d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b15583b74d41cf" /><Relationship Type="http://schemas.openxmlformats.org/officeDocument/2006/relationships/slideMaster" Target="/ppt/slideMasters/slideMaster1.xml" Id="R5f7042fabe0e4325" /><Relationship Type="http://schemas.openxmlformats.org/officeDocument/2006/relationships/notesMaster" Target="/ppt/notesMasters/notesMaster1.xml" Id="R85d82a2effe84f1e" /><Relationship Type="http://schemas.openxmlformats.org/officeDocument/2006/relationships/presProps" Target="/ppt/presProps.xml" Id="R5cbccc69f41644a7" /><Relationship Type="http://schemas.openxmlformats.org/officeDocument/2006/relationships/tableStyles" Target="/ppt/tableStyles.xml" Id="Rae18854900a14fee" /><Relationship Type="http://schemas.openxmlformats.org/officeDocument/2006/relationships/slide" Target="/ppt/slides/slide1.xml" Id="R9845cf4ccf544c1a" /><Relationship Type="http://schemas.openxmlformats.org/officeDocument/2006/relationships/slide" Target="/ppt/slides/slide2.xml" Id="R7ab70462b30c453c" /><Relationship Type="http://schemas.openxmlformats.org/officeDocument/2006/relationships/slide" Target="/ppt/slides/slide3.xml" Id="R39e384eb237643ff" /><Relationship Type="http://schemas.openxmlformats.org/officeDocument/2006/relationships/slide" Target="/ppt/slides/slide4.xml" Id="R536fdf96df85463d" /><Relationship Type="http://schemas.openxmlformats.org/officeDocument/2006/relationships/slide" Target="/ppt/slides/slide5.xml" Id="R554c5ccbffea481c" /><Relationship Type="http://schemas.openxmlformats.org/officeDocument/2006/relationships/slide" Target="/ppt/slides/slide6.xml" Id="R38de75a63c124df9" /><Relationship Type="http://schemas.openxmlformats.org/officeDocument/2006/relationships/slide" Target="/ppt/slides/slide7.xml" Id="Redf4993026434d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c58470ab0f4e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bcc9d0e13349a4" /><Relationship Type="http://schemas.openxmlformats.org/officeDocument/2006/relationships/notesMaster" Target="/ppt/notesMasters/notesMaster1.xml" Id="Re3c40a3f292543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e7863e76a740d1" /><Relationship Type="http://schemas.openxmlformats.org/officeDocument/2006/relationships/notesMaster" Target="/ppt/notesMasters/notesMaster1.xml" Id="R888a9b51ebb245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b2515676d041de" /><Relationship Type="http://schemas.openxmlformats.org/officeDocument/2006/relationships/notesMaster" Target="/ppt/notesMasters/notesMaster1.xml" Id="R564d9c62207743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cb4eed47484aad" /><Relationship Type="http://schemas.openxmlformats.org/officeDocument/2006/relationships/notesMaster" Target="/ppt/notesMasters/notesMaster1.xml" Id="Rd3f46f24dffb42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5d3865f0fa4f8e" /><Relationship Type="http://schemas.openxmlformats.org/officeDocument/2006/relationships/notesMaster" Target="/ppt/notesMasters/notesMaster1.xml" Id="R110f4382e9944b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52b47bafc44b64" /><Relationship Type="http://schemas.openxmlformats.org/officeDocument/2006/relationships/notesMaster" Target="/ppt/notesMasters/notesMaster1.xml" Id="R624d0d227155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d99cee4a25421f" /><Relationship Type="http://schemas.openxmlformats.org/officeDocument/2006/relationships/notesMaster" Target="/ppt/notesMasters/notesMaster1.xml" Id="R2ad6ca6b8a6a4a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안녕하세요, C211201 유영선입니다. 저는 선택형 로그라이크 게임에서 한국어 LLM과 콘텐츠 데이터 시스템을 담당하고 있습니다. 지금부터 제가 구현할 기능과 계획을 말씀드리겠습니다.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플레이어는 조작기로 terrain을 탐색하고 인물과 대화합니다. 선택을 통해 능력치를 관리하고, 상황에 맞는 퀘스트와 미니게임을 수행합니다. 여기서 얻은 보상과 해금 상태를 쌓아 각 챕터의 전투를 준비합니다. 저는 이 흐름에서 이야기 변화, 환경 구성과 미니게임 결과의 연결을 구현합니다.</a:t>
            </a:r>
          </a:p>
          <a:p xmlns:a="http://schemas.openxmlformats.org/drawingml/2006/main">
            <a:r>
              <a:t>최종본에서는 각 영역을 실제 게임 캡처 이미지로 교체합니다.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45초. Reigns와 저희 게임의 차이는 세 가지입니다. Reigns는 정해진 카드에서 좌우 선택을 하지만, 저희 게임은 선택과 이전 플레이 상태를 함께 반영합니다. Reigns의 이야기는 미리 작성된 카드와 해금 콘텐츠 중심이지만, 저희 게임은 허용된 문장을 로컬 한국어 LLM으로 변화시킵니다. 또한 카드 해금에 머물지 않고 terrain과 퀘스트, 미니게임 데이터까지 연결합니다. 현재 입력과 검증 방식이 부족하므로 JSON 입력, 주변 문맥, 후보 생성과 단계별 검사를 추가하겠습니다. 이후 매개변수 규모가 다른 Kanana 두 버전을 비교해 실행 환경과 품질에 맞는 모델을 적용하겠습니다.</a:t>
            </a:r>
          </a:p>
          <a:p xmlns:a="http://schemas.openxmlformats.org/drawingml/2006/main">
            <a:r>
              <a:t>Reigns 공식 설명: https://www.devolverdigital.com/games/reigns</a:t>
            </a:r>
          </a:p>
          <a:p xmlns:a="http://schemas.openxmlformats.org/drawingml/2006/main">
            <a:r>
              <a:t>Kanana-2-3B 공식 모델: https://huggingface.co/kakaocorp/kanana-2-3b-instruct</a:t>
            </a:r>
          </a:p>
          <a:p xmlns:a="http://schemas.openxmlformats.org/drawingml/2006/main">
            <a:r>
              <a:t>코드 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 업무는 네 단계입니다. 먼저 JSON 입력 형식과 변경 금지 항목을 정의합니다. 다음으로 매개변수 규모가 다른 Kanana 두 버전을 같은 데이터로 비교한 후, 실행 환경과 결과 품질에 맞는 모델을 적용하겠습니다. 규칙·의미·루트 검증과 원문 복구를 구현하고 검증된 결과만 게임에 반영하겠습니다.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25초. 전체 과정은 다섯 단계입니다. 플레이 상태를 수집하고 파이댄틱과 JSON Schema로 입력을 먼저 검사합니다. 파이댄틱은 Python에서 필수 값과 데이터 형식이 맞는지 확인하고 오류를 알려 주는 입력 검증 도구입니다. 이후 후보 세 개를 생성하고 규칙·의미·루트 검사를 통과한 결과만 Unity에 반영합니다. 좋은 결과와 실패 이유는 이후 LoRA 학습 데이터로 사용하겠습니다.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검증은 네 부분으로 진행합니다. 먼저 JSON 형식과 한국어 인물·장소 보존을 확인합니다. 다음으로 앞뒤 문맥, 핵심 사건과 현재 루트를 유지하는지 검사합니다. 같은 평가 데이터로 1.3B와 3B의 자연스러움, 반복 표현과 원문 복구율을 비교하고, 로딩 시간과 GPU 메모리도 측정합니다. 현재 재시도와 원문 복구가 구현되어 있으므로 입력 표준화와 후보 평가를 먼저 추가한 뒤, 승인 데이터가 충분히 쌓였을 때 파인튜닝하겠습니다.</a:t>
            </a:r>
          </a:p>
          <a:p xmlns:a="http://schemas.openxmlformats.org/drawingml/2006/main">
            <a:r>
              <a:t>Kanana-2-3B 공식 모델: https://huggingface.co/kakaocorp/kanana-2-3b-instruct</a:t>
            </a:r>
          </a:p>
          <a:p xmlns:a="http://schemas.openxmlformats.org/drawingml/2006/main">
            <a:r>
              <a:t>출처: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d3fe18a9b64c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53fbb63ab9493e" /><Relationship Type="http://schemas.openxmlformats.org/officeDocument/2006/relationships/slideLayout" Target="/ppt/slideLayouts/slideLayout1.xml" Id="R433d39b8b2b64e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d39b8b2b64e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678fd8b457427d" /><Relationship Type="http://schemas.openxmlformats.org/officeDocument/2006/relationships/notesSlide" Target="/ppt/notesSlides/notesSlide1.xml" Id="R1a3d9cc853614f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f0382ec2644691" /><Relationship Type="http://schemas.openxmlformats.org/officeDocument/2006/relationships/notesSlide" Target="/ppt/notesSlides/notesSlide2.xml" Id="R0ce7f26ac5d644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542373d4e347dd" /><Relationship Type="http://schemas.openxmlformats.org/officeDocument/2006/relationships/notesSlide" Target="/ppt/notesSlides/notesSlide3.xml" Id="R66b7116c5e8e4e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f23159e4234375" /><Relationship Type="http://schemas.openxmlformats.org/officeDocument/2006/relationships/notesSlide" Target="/ppt/notesSlides/notesSlide4.xml" Id="R85a568ed350c4f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ed213f130f4020" /><Relationship Type="http://schemas.openxmlformats.org/officeDocument/2006/relationships/notesSlide" Target="/ppt/notesSlides/notesSlide5.xml" Id="R6b915bedeef744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f97215d47c14696" /><Relationship Type="http://schemas.openxmlformats.org/officeDocument/2006/relationships/notesSlide" Target="/ppt/notesSlides/notesSlide6.xml" Id="R128affed3d374f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734d36c93b4aad" /><Relationship Type="http://schemas.openxmlformats.org/officeDocument/2006/relationships/notesSlide" Target="/ppt/notesSlides/notesSlide7.xml" Id="R544ce9da8c31478e"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A8020CC-ACD5-4389-AB1C-F1C753BD575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8792FB6-F8EB-4336-9492-3EBE881DDC2F}"/>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05FF47FA-BAFE-4C8B-A578-34F78C95E68A}"/>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14D6946A-756B-45AC-B9F1-926C69DE814B}"/>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A065C6ED-9CA3-4E8F-9068-30145D0D1CEA}"/>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EA24742-94D1-4C7D-BB37-C692F21EF423}"/>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81EE29FA-2ACF-4FC4-9C07-619AEFE7FCEF}"/>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F2C18494-5A8F-40DB-9094-6CC9E2B48EAB}"/>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3A1A4E31-00B8-4613-BFEB-2C50A71FC5FB}"/>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1819388743"/>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706450A-957B-465C-948E-8FD6DC612DA2}"/>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C3279C44-487D-4235-B8B0-BD62D12B24A0}"/>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CB8F32DB-1A22-4F1B-8C10-2D0ECFFDB73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30C6E5E-7ABD-4628-913D-0BD8C85C79E7}"/>
              </a:ext>
            </a:extLst>
          </p:cNvPr>
          <p:cNvSpPr>
            <a:spLocks xmlns:a="http://schemas.openxmlformats.org/drawingml/2006/main" noGrp="1"/>
          </p:cNvSpPr>
          <p:nvPr/>
        </p:nvSpPr>
        <p:spPr>
          <a:xfrm xmlns:a="http://schemas.openxmlformats.org/drawingml/2006/main">
            <a:off x="609600" y="1238250"/>
            <a:ext cx="6572250" cy="4095750"/>
          </a:xfrm>
          <a:prstGeom xmlns:a="http://schemas.openxmlformats.org/drawingml/2006/main" prst="roundRect">
            <a:avLst>
              <a:gd name="adj" fmla="val 4186"/>
            </a:avLst>
          </a:prstGeom>
          <a:solidFill xmlns:a="http://schemas.openxmlformats.org/drawingml/2006/main">
            <a:srgbClr val="E9ECEB"/>
          </a:solidFill>
          <a:ln xmlns:a="http://schemas.openxmlformats.org/drawingml/2006/main" w="9525">
            <a:solidFill>
              <a:srgbClr val="CBD4D8"/>
            </a:solidFill>
            <a:prstDash val="solid"/>
          </a:ln>
        </p:spPr>
      </p:sp>
      <p:sp>
        <p:nvSpPr>
          <p:cNvPr id="5" name="">
            <a:extLst xmlns:a="http://schemas.openxmlformats.org/drawingml/2006/main">
              <a:ext uri="{FF2B5EF4-FFF2-40B4-BE49-F238E27FC236}">
                <a16:creationId xmlns:a16="http://schemas.microsoft.com/office/drawing/2014/main" id="{3DF8EFF8-7096-4CD2-89CE-272738FFDF44}"/>
              </a:ext>
            </a:extLst>
          </p:cNvPr>
          <p:cNvSpPr>
            <a:spLocks xmlns:a="http://schemas.openxmlformats.org/drawingml/2006/main" noGrp="1"/>
          </p:cNvSpPr>
          <p:nvPr/>
        </p:nvSpPr>
        <p:spPr>
          <a:xfrm xmlns:a="http://schemas.openxmlformats.org/drawingml/2006/main">
            <a:off x="2000250" y="2781300"/>
            <a:ext cx="37909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250" b="1">
                <a:solidFill>
                  <a:srgbClr val="173042"/>
                </a:solidFill>
                <a:latin typeface="Noto Sans KR"/>
                <a:ea typeface="Noto Sans KR"/>
                <a:cs typeface="Noto Sans KR"/>
              </a:defRPr>
            </a:pPr>
            <a:r>
              <a:rPr sz="2250" b="1">
                <a:solidFill>
                  <a:srgbClr val="173042"/>
                </a:solidFill>
                <a:latin typeface="Noto Sans KR"/>
                <a:ea typeface="Noto Sans KR"/>
                <a:cs typeface="Noto Sans KR"/>
              </a:rPr>
              <a:t>실제 게임 이미지</a:t>
            </a:r>
          </a:p>
        </p:txBody>
      </p:sp>
      <p:sp>
        <p:nvSpPr>
          <p:cNvPr id="6" name="">
            <a:extLst xmlns:a="http://schemas.openxmlformats.org/drawingml/2006/main">
              <a:ext uri="{FF2B5EF4-FFF2-40B4-BE49-F238E27FC236}">
                <a16:creationId xmlns:a16="http://schemas.microsoft.com/office/drawing/2014/main" id="{CCC44E3E-A67D-48AC-9D79-CC74357016E6}"/>
              </a:ext>
            </a:extLst>
          </p:cNvPr>
          <p:cNvSpPr>
            <a:spLocks xmlns:a="http://schemas.openxmlformats.org/drawingml/2006/main" noGrp="1"/>
          </p:cNvSpPr>
          <p:nvPr/>
        </p:nvSpPr>
        <p:spPr>
          <a:xfrm xmlns:a="http://schemas.openxmlformats.org/drawingml/2006/main">
            <a:off x="2000250" y="3276600"/>
            <a:ext cx="3790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탐색·대화 메인 화면</a:t>
            </a:r>
          </a:p>
        </p:txBody>
      </p:sp>
      <p:sp>
        <p:nvSpPr>
          <p:cNvPr id="7" name="">
            <a:extLst xmlns:a="http://schemas.openxmlformats.org/drawingml/2006/main">
              <a:ext uri="{FF2B5EF4-FFF2-40B4-BE49-F238E27FC236}">
                <a16:creationId xmlns:a16="http://schemas.microsoft.com/office/drawing/2014/main" id="{4F0DB3DC-5BE8-40D5-81C9-9A6004CBA52A}"/>
              </a:ext>
            </a:extLst>
          </p:cNvPr>
          <p:cNvSpPr>
            <a:spLocks xmlns:a="http://schemas.openxmlformats.org/drawingml/2006/main" noGrp="1"/>
          </p:cNvSpPr>
          <p:nvPr/>
        </p:nvSpPr>
        <p:spPr>
          <a:xfrm xmlns:a="http://schemas.openxmlformats.org/drawingml/2006/main">
            <a:off x="7353300" y="1238250"/>
            <a:ext cx="4229100" cy="123825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9525">
            <a:solidFill>
              <a:srgbClr val="CBD4D8"/>
            </a:solidFill>
            <a:prstDash val="solid"/>
          </a:ln>
        </p:spPr>
      </p:sp>
      <p:sp>
        <p:nvSpPr>
          <p:cNvPr id="8" name="">
            <a:extLst xmlns:a="http://schemas.openxmlformats.org/drawingml/2006/main">
              <a:ext uri="{FF2B5EF4-FFF2-40B4-BE49-F238E27FC236}">
                <a16:creationId xmlns:a16="http://schemas.microsoft.com/office/drawing/2014/main" id="{9312FAEF-3D99-4670-86B7-5AAC5A71C975}"/>
              </a:ext>
            </a:extLst>
          </p:cNvPr>
          <p:cNvSpPr>
            <a:spLocks xmlns:a="http://schemas.openxmlformats.org/drawingml/2006/main" noGrp="1"/>
          </p:cNvSpPr>
          <p:nvPr/>
        </p:nvSpPr>
        <p:spPr>
          <a:xfrm xmlns:a="http://schemas.openxmlformats.org/drawingml/2006/main">
            <a:off x="8077200" y="152400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실제 게임 이미지</a:t>
            </a:r>
          </a:p>
        </p:txBody>
      </p:sp>
      <p:sp>
        <p:nvSpPr>
          <p:cNvPr id="9" name="">
            <a:extLst xmlns:a="http://schemas.openxmlformats.org/drawingml/2006/main">
              <a:ext uri="{FF2B5EF4-FFF2-40B4-BE49-F238E27FC236}">
                <a16:creationId xmlns:a16="http://schemas.microsoft.com/office/drawing/2014/main" id="{46BDB7C1-1F3D-4DE3-B513-D95CB7E096E3}"/>
              </a:ext>
            </a:extLst>
          </p:cNvPr>
          <p:cNvSpPr>
            <a:spLocks xmlns:a="http://schemas.openxmlformats.org/drawingml/2006/main" noGrp="1"/>
          </p:cNvSpPr>
          <p:nvPr/>
        </p:nvSpPr>
        <p:spPr>
          <a:xfrm xmlns:a="http://schemas.openxmlformats.org/drawingml/2006/main">
            <a:off x="8077200" y="19050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이야기·능력치 화면</a:t>
            </a:r>
          </a:p>
        </p:txBody>
      </p:sp>
      <p:sp>
        <p:nvSpPr>
          <p:cNvPr id="10" name="">
            <a:extLst xmlns:a="http://schemas.openxmlformats.org/drawingml/2006/main">
              <a:ext uri="{FF2B5EF4-FFF2-40B4-BE49-F238E27FC236}">
                <a16:creationId xmlns:a16="http://schemas.microsoft.com/office/drawing/2014/main" id="{0917EB94-12B5-478D-9B50-83D0E2818104}"/>
              </a:ext>
            </a:extLst>
          </p:cNvPr>
          <p:cNvSpPr>
            <a:spLocks xmlns:a="http://schemas.openxmlformats.org/drawingml/2006/main" noGrp="1"/>
          </p:cNvSpPr>
          <p:nvPr/>
        </p:nvSpPr>
        <p:spPr>
          <a:xfrm xmlns:a="http://schemas.openxmlformats.org/drawingml/2006/main">
            <a:off x="7353300" y="2609850"/>
            <a:ext cx="4229100" cy="1238250"/>
          </a:xfrm>
          <a:prstGeom xmlns:a="http://schemas.openxmlformats.org/drawingml/2006/main" prst="roundRect">
            <a:avLst>
              <a:gd name="adj" fmla="val 10769"/>
            </a:avLst>
          </a:prstGeom>
          <a:solidFill xmlns:a="http://schemas.openxmlformats.org/drawingml/2006/main">
            <a:srgbClr val="FFFFFF"/>
          </a:solidFill>
          <a:ln xmlns:a="http://schemas.openxmlformats.org/drawingml/2006/main" w="9525">
            <a:solidFill>
              <a:srgbClr val="CBD4D8"/>
            </a:solidFill>
            <a:prstDash val="solid"/>
          </a:ln>
        </p:spPr>
      </p:sp>
      <p:sp>
        <p:nvSpPr>
          <p:cNvPr id="11" name="">
            <a:extLst xmlns:a="http://schemas.openxmlformats.org/drawingml/2006/main">
              <a:ext uri="{FF2B5EF4-FFF2-40B4-BE49-F238E27FC236}">
                <a16:creationId xmlns:a16="http://schemas.microsoft.com/office/drawing/2014/main" id="{A6ADAE73-6D98-4278-8D69-9C3BC8CF962B}"/>
              </a:ext>
            </a:extLst>
          </p:cNvPr>
          <p:cNvSpPr>
            <a:spLocks xmlns:a="http://schemas.openxmlformats.org/drawingml/2006/main" noGrp="1"/>
          </p:cNvSpPr>
          <p:nvPr/>
        </p:nvSpPr>
        <p:spPr>
          <a:xfrm xmlns:a="http://schemas.openxmlformats.org/drawingml/2006/main">
            <a:off x="8077200" y="289560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실제 게임 이미지</a:t>
            </a:r>
          </a:p>
        </p:txBody>
      </p:sp>
      <p:sp>
        <p:nvSpPr>
          <p:cNvPr id="12" name="">
            <a:extLst xmlns:a="http://schemas.openxmlformats.org/drawingml/2006/main">
              <a:ext uri="{FF2B5EF4-FFF2-40B4-BE49-F238E27FC236}">
                <a16:creationId xmlns:a16="http://schemas.microsoft.com/office/drawing/2014/main" id="{61ABAF30-40A6-4C70-8927-9C0670039599}"/>
              </a:ext>
            </a:extLst>
          </p:cNvPr>
          <p:cNvSpPr>
            <a:spLocks xmlns:a="http://schemas.openxmlformats.org/drawingml/2006/main" noGrp="1"/>
          </p:cNvSpPr>
          <p:nvPr/>
        </p:nvSpPr>
        <p:spPr>
          <a:xfrm xmlns:a="http://schemas.openxmlformats.org/drawingml/2006/main">
            <a:off x="8077200" y="32766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퀘스트·미니게임 화면</a:t>
            </a:r>
          </a:p>
        </p:txBody>
      </p:sp>
      <p:sp>
        <p:nvSpPr>
          <p:cNvPr id="13" name="">
            <a:extLst xmlns:a="http://schemas.openxmlformats.org/drawingml/2006/main">
              <a:ext uri="{FF2B5EF4-FFF2-40B4-BE49-F238E27FC236}">
                <a16:creationId xmlns:a16="http://schemas.microsoft.com/office/drawing/2014/main" id="{48E69F0E-F928-44DD-8923-4C4A01C5E1C0}"/>
              </a:ext>
            </a:extLst>
          </p:cNvPr>
          <p:cNvSpPr>
            <a:spLocks xmlns:a="http://schemas.openxmlformats.org/drawingml/2006/main" noGrp="1"/>
          </p:cNvSpPr>
          <p:nvPr/>
        </p:nvSpPr>
        <p:spPr>
          <a:xfrm xmlns:a="http://schemas.openxmlformats.org/drawingml/2006/main">
            <a:off x="7353300" y="3981450"/>
            <a:ext cx="42291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CBD4D8"/>
            </a:solidFill>
            <a:prstDash val="solid"/>
          </a:ln>
        </p:spPr>
      </p:sp>
      <p:sp>
        <p:nvSpPr>
          <p:cNvPr id="14" name="">
            <a:extLst xmlns:a="http://schemas.openxmlformats.org/drawingml/2006/main">
              <a:ext uri="{FF2B5EF4-FFF2-40B4-BE49-F238E27FC236}">
                <a16:creationId xmlns:a16="http://schemas.microsoft.com/office/drawing/2014/main" id="{C334FB33-C3A6-49D0-B72B-6FC77EC11CAA}"/>
              </a:ext>
            </a:extLst>
          </p:cNvPr>
          <p:cNvSpPr>
            <a:spLocks xmlns:a="http://schemas.openxmlformats.org/drawingml/2006/main" noGrp="1"/>
          </p:cNvSpPr>
          <p:nvPr/>
        </p:nvSpPr>
        <p:spPr>
          <a:xfrm xmlns:a="http://schemas.openxmlformats.org/drawingml/2006/main">
            <a:off x="8077200" y="4267200"/>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실제 게임 이미지</a:t>
            </a:r>
          </a:p>
        </p:txBody>
      </p:sp>
      <p:sp>
        <p:nvSpPr>
          <p:cNvPr id="15" name="">
            <a:extLst xmlns:a="http://schemas.openxmlformats.org/drawingml/2006/main">
              <a:ext uri="{FF2B5EF4-FFF2-40B4-BE49-F238E27FC236}">
                <a16:creationId xmlns:a16="http://schemas.microsoft.com/office/drawing/2014/main" id="{71A5E6CD-68FE-4992-AD30-A8FD18EC5724}"/>
              </a:ext>
            </a:extLst>
          </p:cNvPr>
          <p:cNvSpPr>
            <a:spLocks xmlns:a="http://schemas.openxmlformats.org/drawingml/2006/main" noGrp="1"/>
          </p:cNvSpPr>
          <p:nvPr/>
        </p:nvSpPr>
        <p:spPr>
          <a:xfrm xmlns:a="http://schemas.openxmlformats.org/drawingml/2006/main">
            <a:off x="8077200" y="4648200"/>
            <a:ext cx="2781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챕터 전투 준비 화면</a:t>
            </a:r>
          </a:p>
        </p:txBody>
      </p:sp>
      <p:sp>
        <p:nvSpPr>
          <p:cNvPr id="16" name="">
            <a:extLst xmlns:a="http://schemas.openxmlformats.org/drawingml/2006/main">
              <a:ext uri="{FF2B5EF4-FFF2-40B4-BE49-F238E27FC236}">
                <a16:creationId xmlns:a16="http://schemas.microsoft.com/office/drawing/2014/main" id="{D5796DAA-5776-44FB-9A90-510328704BE9}"/>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14ADDAB-382E-4A8A-8316-B03EB4BE58FA}"/>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18" name="">
            <a:extLst xmlns:a="http://schemas.openxmlformats.org/drawingml/2006/main">
              <a:ext uri="{FF2B5EF4-FFF2-40B4-BE49-F238E27FC236}">
                <a16:creationId xmlns:a16="http://schemas.microsoft.com/office/drawing/2014/main" id="{CA8FF445-FD1C-4832-A4BC-9C5CB3308169}"/>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19" name="">
            <a:extLst xmlns:a="http://schemas.openxmlformats.org/drawingml/2006/main">
              <a:ext uri="{FF2B5EF4-FFF2-40B4-BE49-F238E27FC236}">
                <a16:creationId xmlns:a16="http://schemas.microsoft.com/office/drawing/2014/main" id="{7725B2F5-DCDC-40A2-A912-FD8C426876D1}"/>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20" name="">
            <a:extLst xmlns:a="http://schemas.openxmlformats.org/drawingml/2006/main">
              <a:ext uri="{FF2B5EF4-FFF2-40B4-BE49-F238E27FC236}">
                <a16:creationId xmlns:a16="http://schemas.microsoft.com/office/drawing/2014/main" id="{DD55F828-B769-4DE7-AF91-26F918B6E549}"/>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21" name="">
            <a:extLst xmlns:a="http://schemas.openxmlformats.org/drawingml/2006/main">
              <a:ext uri="{FF2B5EF4-FFF2-40B4-BE49-F238E27FC236}">
                <a16:creationId xmlns:a16="http://schemas.microsoft.com/office/drawing/2014/main" id="{EDC37D74-ADA5-4625-A9E9-5D3B88C70253}"/>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22" name="">
            <a:extLst xmlns:a="http://schemas.openxmlformats.org/drawingml/2006/main">
              <a:ext uri="{FF2B5EF4-FFF2-40B4-BE49-F238E27FC236}">
                <a16:creationId xmlns:a16="http://schemas.microsoft.com/office/drawing/2014/main" id="{A6E99F83-2DE4-4601-904E-B7D95FB0D543}"/>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23" name="">
            <a:extLst xmlns:a="http://schemas.openxmlformats.org/drawingml/2006/main">
              <a:ext uri="{FF2B5EF4-FFF2-40B4-BE49-F238E27FC236}">
                <a16:creationId xmlns:a16="http://schemas.microsoft.com/office/drawing/2014/main" id="{6FDFA276-78B2-4BEB-AA07-64B45D7BECBF}"/>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24" name="">
            <a:extLst xmlns:a="http://schemas.openxmlformats.org/drawingml/2006/main">
              <a:ext uri="{FF2B5EF4-FFF2-40B4-BE49-F238E27FC236}">
                <a16:creationId xmlns:a16="http://schemas.microsoft.com/office/drawing/2014/main" id="{E511DEC5-E808-424A-834C-7C2816BB17BC}"/>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25" name="">
            <a:extLst xmlns:a="http://schemas.openxmlformats.org/drawingml/2006/main">
              <a:ext uri="{FF2B5EF4-FFF2-40B4-BE49-F238E27FC236}">
                <a16:creationId xmlns:a16="http://schemas.microsoft.com/office/drawing/2014/main" id="{FCE1273E-DFE2-43AF-829E-D16E8E1E51DA}"/>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26" name="">
            <a:extLst xmlns:a="http://schemas.openxmlformats.org/drawingml/2006/main">
              <a:ext uri="{FF2B5EF4-FFF2-40B4-BE49-F238E27FC236}">
                <a16:creationId xmlns:a16="http://schemas.microsoft.com/office/drawing/2014/main" id="{43BADCD7-D360-4DFC-9DF3-C9F731278276}"/>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27" name="">
            <a:extLst xmlns:a="http://schemas.openxmlformats.org/drawingml/2006/main">
              <a:ext uri="{FF2B5EF4-FFF2-40B4-BE49-F238E27FC236}">
                <a16:creationId xmlns:a16="http://schemas.microsoft.com/office/drawing/2014/main" id="{45E9948D-041D-4294-8B04-F5CDCE172970}"/>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1881976340"/>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DC3F780-B05B-494B-94C2-0BABAD92B543}"/>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Reigns와의 차별성과 LLM 개선</a:t>
            </a:r>
          </a:p>
        </p:txBody>
      </p:sp>
      <p:sp>
        <p:nvSpPr>
          <p:cNvPr id="2" name="">
            <a:extLst xmlns:a="http://schemas.openxmlformats.org/drawingml/2006/main">
              <a:ext uri="{FF2B5EF4-FFF2-40B4-BE49-F238E27FC236}">
                <a16:creationId xmlns:a16="http://schemas.microsoft.com/office/drawing/2014/main" id="{B21F89F1-0978-4AF4-A778-F64E86FDAFD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3E20A448-590F-4A68-9CA8-67D183C72B49}"/>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63AAD9-E1EA-4A7F-A84C-76269A8ED9FE}"/>
              </a:ext>
            </a:extLst>
          </p:cNvPr>
          <p:cNvSpPr>
            <a:spLocks xmlns:a="http://schemas.openxmlformats.org/drawingml/2006/main" noGrp="1"/>
          </p:cNvSpPr>
          <p:nvPr/>
        </p:nvSpPr>
        <p:spPr>
          <a:xfrm xmlns:a="http://schemas.openxmlformats.org/drawingml/2006/main">
            <a:off x="723900" y="1314450"/>
            <a:ext cx="1352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5E6B75"/>
                </a:solidFill>
                <a:latin typeface="Noto Sans KR"/>
                <a:ea typeface="Noto Sans KR"/>
                <a:cs typeface="Noto Sans KR"/>
              </a:defRPr>
            </a:pPr>
            <a:r>
              <a:rPr sz="1350" b="1">
                <a:solidFill>
                  <a:srgbClr val="5E6B75"/>
                </a:solidFill>
                <a:latin typeface="Noto Sans KR"/>
                <a:ea typeface="Noto Sans KR"/>
                <a:cs typeface="Noto Sans KR"/>
              </a:rPr>
              <a:t>비교 항목</a:t>
            </a:r>
          </a:p>
        </p:txBody>
      </p:sp>
      <p:sp>
        <p:nvSpPr>
          <p:cNvPr id="5" name="">
            <a:extLst xmlns:a="http://schemas.openxmlformats.org/drawingml/2006/main">
              <a:ext uri="{FF2B5EF4-FFF2-40B4-BE49-F238E27FC236}">
                <a16:creationId xmlns:a16="http://schemas.microsoft.com/office/drawing/2014/main" id="{F4A090F5-D7D4-4293-80D1-87C75D32908F}"/>
              </a:ext>
            </a:extLst>
          </p:cNvPr>
          <p:cNvSpPr>
            <a:spLocks xmlns:a="http://schemas.openxmlformats.org/drawingml/2006/main" noGrp="1"/>
          </p:cNvSpPr>
          <p:nvPr/>
        </p:nvSpPr>
        <p:spPr>
          <a:xfrm xmlns:a="http://schemas.openxmlformats.org/drawingml/2006/main">
            <a:off x="2324100" y="13144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D9854F"/>
                </a:solidFill>
                <a:latin typeface="Noto Sans KR"/>
                <a:ea typeface="Noto Sans KR"/>
                <a:cs typeface="Noto Sans KR"/>
              </a:defRPr>
            </a:pPr>
            <a:r>
              <a:rPr sz="1725" b="1">
                <a:solidFill>
                  <a:srgbClr val="D9854F"/>
                </a:solidFill>
                <a:latin typeface="Noto Sans KR"/>
                <a:ea typeface="Noto Sans KR"/>
                <a:cs typeface="Noto Sans KR"/>
              </a:rPr>
              <a:t>Reigns</a:t>
            </a:r>
          </a:p>
        </p:txBody>
      </p:sp>
      <p:sp>
        <p:nvSpPr>
          <p:cNvPr id="6" name="">
            <a:extLst xmlns:a="http://schemas.openxmlformats.org/drawingml/2006/main">
              <a:ext uri="{FF2B5EF4-FFF2-40B4-BE49-F238E27FC236}">
                <a16:creationId xmlns:a16="http://schemas.microsoft.com/office/drawing/2014/main" id="{AC64829E-DE32-4C3B-B472-6515554DEE20}"/>
              </a:ext>
            </a:extLst>
          </p:cNvPr>
          <p:cNvSpPr>
            <a:spLocks xmlns:a="http://schemas.openxmlformats.org/drawingml/2006/main" noGrp="1"/>
          </p:cNvSpPr>
          <p:nvPr/>
        </p:nvSpPr>
        <p:spPr>
          <a:xfrm xmlns:a="http://schemas.openxmlformats.org/drawingml/2006/main">
            <a:off x="6515100" y="131445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8788A"/>
                </a:solidFill>
                <a:latin typeface="Noto Sans KR"/>
                <a:ea typeface="Noto Sans KR"/>
                <a:cs typeface="Noto Sans KR"/>
              </a:defRPr>
            </a:pPr>
            <a:r>
              <a:rPr sz="1725" b="1">
                <a:solidFill>
                  <a:srgbClr val="18788A"/>
                </a:solidFill>
                <a:latin typeface="Noto Sans KR"/>
                <a:ea typeface="Noto Sans KR"/>
                <a:cs typeface="Noto Sans KR"/>
              </a:rPr>
              <a:t>내 게임</a:t>
            </a:r>
          </a:p>
        </p:txBody>
      </p:sp>
      <p:sp>
        <p:nvSpPr>
          <p:cNvPr id="7" name="">
            <a:extLst xmlns:a="http://schemas.openxmlformats.org/drawingml/2006/main">
              <a:ext uri="{FF2B5EF4-FFF2-40B4-BE49-F238E27FC236}">
                <a16:creationId xmlns:a16="http://schemas.microsoft.com/office/drawing/2014/main" id="{7C8D747C-03BD-44BC-A225-F8C9DDD4682C}"/>
              </a:ext>
            </a:extLst>
          </p:cNvPr>
          <p:cNvSpPr>
            <a:spLocks xmlns:a="http://schemas.openxmlformats.org/drawingml/2006/main" noGrp="1"/>
          </p:cNvSpPr>
          <p:nvPr/>
        </p:nvSpPr>
        <p:spPr>
          <a:xfrm xmlns:a="http://schemas.openxmlformats.org/drawingml/2006/main">
            <a:off x="723900" y="1752600"/>
            <a:ext cx="107442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46273C-A880-4DB9-B341-D35A6DB56792}"/>
              </a:ext>
            </a:extLst>
          </p:cNvPr>
          <p:cNvSpPr>
            <a:spLocks xmlns:a="http://schemas.openxmlformats.org/drawingml/2006/main" noGrp="1"/>
          </p:cNvSpPr>
          <p:nvPr/>
        </p:nvSpPr>
        <p:spPr>
          <a:xfrm xmlns:a="http://schemas.openxmlformats.org/drawingml/2006/main">
            <a:off x="723900" y="1885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선택 방식</a:t>
            </a:r>
          </a:p>
        </p:txBody>
      </p:sp>
      <p:sp>
        <p:nvSpPr>
          <p:cNvPr id="9" name="">
            <a:extLst xmlns:a="http://schemas.openxmlformats.org/drawingml/2006/main">
              <a:ext uri="{FF2B5EF4-FFF2-40B4-BE49-F238E27FC236}">
                <a16:creationId xmlns:a16="http://schemas.microsoft.com/office/drawing/2014/main" id="{EB833ED0-DD85-434B-AA7F-2BA787794FD7}"/>
              </a:ext>
            </a:extLst>
          </p:cNvPr>
          <p:cNvSpPr>
            <a:spLocks xmlns:a="http://schemas.openxmlformats.org/drawingml/2006/main" noGrp="1"/>
          </p:cNvSpPr>
          <p:nvPr/>
        </p:nvSpPr>
        <p:spPr>
          <a:xfrm xmlns:a="http://schemas.openxmlformats.org/drawingml/2006/main">
            <a:off x="2324100" y="1885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정해진 카드에서 좌우 선택</a:t>
            </a:r>
          </a:p>
        </p:txBody>
      </p:sp>
      <p:sp>
        <p:nvSpPr>
          <p:cNvPr id="10" name="">
            <a:extLst xmlns:a="http://schemas.openxmlformats.org/drawingml/2006/main">
              <a:ext uri="{FF2B5EF4-FFF2-40B4-BE49-F238E27FC236}">
                <a16:creationId xmlns:a16="http://schemas.microsoft.com/office/drawing/2014/main" id="{B5C4ACB4-1849-4CC7-ABD3-9CE86B6F1227}"/>
              </a:ext>
            </a:extLst>
          </p:cNvPr>
          <p:cNvSpPr>
            <a:spLocks xmlns:a="http://schemas.openxmlformats.org/drawingml/2006/main" noGrp="1"/>
          </p:cNvSpPr>
          <p:nvPr/>
        </p:nvSpPr>
        <p:spPr>
          <a:xfrm xmlns:a="http://schemas.openxmlformats.org/drawingml/2006/main">
            <a:off x="6515100" y="1885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선택과 이전 플레이 상태를 함께 반영</a:t>
            </a:r>
          </a:p>
        </p:txBody>
      </p:sp>
      <p:sp>
        <p:nvSpPr>
          <p:cNvPr id="11" name="">
            <a:extLst xmlns:a="http://schemas.openxmlformats.org/drawingml/2006/main">
              <a:ext uri="{FF2B5EF4-FFF2-40B4-BE49-F238E27FC236}">
                <a16:creationId xmlns:a16="http://schemas.microsoft.com/office/drawing/2014/main" id="{0AE33AE2-3EDE-464B-A62E-E1D4EFCEFFA7}"/>
              </a:ext>
            </a:extLst>
          </p:cNvPr>
          <p:cNvSpPr>
            <a:spLocks xmlns:a="http://schemas.openxmlformats.org/drawingml/2006/main" noGrp="1"/>
          </p:cNvSpPr>
          <p:nvPr/>
        </p:nvSpPr>
        <p:spPr>
          <a:xfrm xmlns:a="http://schemas.openxmlformats.org/drawingml/2006/main">
            <a:off x="723900" y="2343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6DC8D95-3C85-4856-ACE9-65CB728EC8AF}"/>
              </a:ext>
            </a:extLst>
          </p:cNvPr>
          <p:cNvSpPr>
            <a:spLocks xmlns:a="http://schemas.openxmlformats.org/drawingml/2006/main" noGrp="1"/>
          </p:cNvSpPr>
          <p:nvPr/>
        </p:nvSpPr>
        <p:spPr>
          <a:xfrm xmlns:a="http://schemas.openxmlformats.org/drawingml/2006/main">
            <a:off x="723900" y="24574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이야기</a:t>
            </a:r>
          </a:p>
        </p:txBody>
      </p:sp>
      <p:sp>
        <p:nvSpPr>
          <p:cNvPr id="13" name="">
            <a:extLst xmlns:a="http://schemas.openxmlformats.org/drawingml/2006/main">
              <a:ext uri="{FF2B5EF4-FFF2-40B4-BE49-F238E27FC236}">
                <a16:creationId xmlns:a16="http://schemas.microsoft.com/office/drawing/2014/main" id="{7D417E69-68F7-4998-9274-DBB9C1F05A6C}"/>
              </a:ext>
            </a:extLst>
          </p:cNvPr>
          <p:cNvSpPr>
            <a:spLocks xmlns:a="http://schemas.openxmlformats.org/drawingml/2006/main" noGrp="1"/>
          </p:cNvSpPr>
          <p:nvPr/>
        </p:nvSpPr>
        <p:spPr>
          <a:xfrm xmlns:a="http://schemas.openxmlformats.org/drawingml/2006/main">
            <a:off x="2324100" y="24574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미리 작성된 카드와 해금 콘텐츠</a:t>
            </a:r>
          </a:p>
        </p:txBody>
      </p:sp>
      <p:sp>
        <p:nvSpPr>
          <p:cNvPr id="14" name="">
            <a:extLst xmlns:a="http://schemas.openxmlformats.org/drawingml/2006/main">
              <a:ext uri="{FF2B5EF4-FFF2-40B4-BE49-F238E27FC236}">
                <a16:creationId xmlns:a16="http://schemas.microsoft.com/office/drawing/2014/main" id="{CE7E9D33-A762-40C1-8668-7B585A444276}"/>
              </a:ext>
            </a:extLst>
          </p:cNvPr>
          <p:cNvSpPr>
            <a:spLocks xmlns:a="http://schemas.openxmlformats.org/drawingml/2006/main" noGrp="1"/>
          </p:cNvSpPr>
          <p:nvPr/>
        </p:nvSpPr>
        <p:spPr>
          <a:xfrm xmlns:a="http://schemas.openxmlformats.org/drawingml/2006/main">
            <a:off x="6515100" y="245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허용 문장을 로컬 한국어 LLM으로 변화</a:t>
            </a:r>
          </a:p>
        </p:txBody>
      </p:sp>
      <p:sp>
        <p:nvSpPr>
          <p:cNvPr id="15" name="">
            <a:extLst xmlns:a="http://schemas.openxmlformats.org/drawingml/2006/main">
              <a:ext uri="{FF2B5EF4-FFF2-40B4-BE49-F238E27FC236}">
                <a16:creationId xmlns:a16="http://schemas.microsoft.com/office/drawing/2014/main" id="{B9C13157-A73B-4FCA-B50D-DB8F92DF5739}"/>
              </a:ext>
            </a:extLst>
          </p:cNvPr>
          <p:cNvSpPr>
            <a:spLocks xmlns:a="http://schemas.openxmlformats.org/drawingml/2006/main" noGrp="1"/>
          </p:cNvSpPr>
          <p:nvPr/>
        </p:nvSpPr>
        <p:spPr>
          <a:xfrm xmlns:a="http://schemas.openxmlformats.org/drawingml/2006/main">
            <a:off x="723900" y="29146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B70C3E-DC2A-4C5B-970E-DD385F588487}"/>
              </a:ext>
            </a:extLst>
          </p:cNvPr>
          <p:cNvSpPr>
            <a:spLocks xmlns:a="http://schemas.openxmlformats.org/drawingml/2006/main" noGrp="1"/>
          </p:cNvSpPr>
          <p:nvPr/>
        </p:nvSpPr>
        <p:spPr>
          <a:xfrm xmlns:a="http://schemas.openxmlformats.org/drawingml/2006/main">
            <a:off x="723900" y="3028950"/>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확장 방식</a:t>
            </a:r>
          </a:p>
        </p:txBody>
      </p:sp>
      <p:sp>
        <p:nvSpPr>
          <p:cNvPr id="17" name="">
            <a:extLst xmlns:a="http://schemas.openxmlformats.org/drawingml/2006/main">
              <a:ext uri="{FF2B5EF4-FFF2-40B4-BE49-F238E27FC236}">
                <a16:creationId xmlns:a16="http://schemas.microsoft.com/office/drawing/2014/main" id="{BBEE78A6-8CEE-4BFB-A6B0-4010A343A1C8}"/>
              </a:ext>
            </a:extLst>
          </p:cNvPr>
          <p:cNvSpPr>
            <a:spLocks xmlns:a="http://schemas.openxmlformats.org/drawingml/2006/main" noGrp="1"/>
          </p:cNvSpPr>
          <p:nvPr/>
        </p:nvSpPr>
        <p:spPr>
          <a:xfrm xmlns:a="http://schemas.openxmlformats.org/drawingml/2006/main">
            <a:off x="2324100" y="3028950"/>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카드 해금과 네 지표의 균형</a:t>
            </a:r>
          </a:p>
        </p:txBody>
      </p:sp>
      <p:sp>
        <p:nvSpPr>
          <p:cNvPr id="18" name="">
            <a:extLst xmlns:a="http://schemas.openxmlformats.org/drawingml/2006/main">
              <a:ext uri="{FF2B5EF4-FFF2-40B4-BE49-F238E27FC236}">
                <a16:creationId xmlns:a16="http://schemas.microsoft.com/office/drawing/2014/main" id="{E3C8D6F7-04DA-421E-BB0D-DCC4015DB114}"/>
              </a:ext>
            </a:extLst>
          </p:cNvPr>
          <p:cNvSpPr>
            <a:spLocks xmlns:a="http://schemas.openxmlformats.org/drawingml/2006/main" noGrp="1"/>
          </p:cNvSpPr>
          <p:nvPr/>
        </p:nvSpPr>
        <p:spPr>
          <a:xfrm xmlns:a="http://schemas.openxmlformats.org/drawingml/2006/main">
            <a:off x="6515100" y="30289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terrain·퀘스트·미니게임 데이터로 연결</a:t>
            </a:r>
          </a:p>
        </p:txBody>
      </p:sp>
      <p:sp>
        <p:nvSpPr>
          <p:cNvPr id="19" name="">
            <a:extLst xmlns:a="http://schemas.openxmlformats.org/drawingml/2006/main">
              <a:ext uri="{FF2B5EF4-FFF2-40B4-BE49-F238E27FC236}">
                <a16:creationId xmlns:a16="http://schemas.microsoft.com/office/drawing/2014/main" id="{49E93A81-4A14-4262-83D0-1DCA1DBAC849}"/>
              </a:ext>
            </a:extLst>
          </p:cNvPr>
          <p:cNvSpPr>
            <a:spLocks xmlns:a="http://schemas.openxmlformats.org/drawingml/2006/main" noGrp="1"/>
          </p:cNvSpPr>
          <p:nvPr/>
        </p:nvSpPr>
        <p:spPr>
          <a:xfrm xmlns:a="http://schemas.openxmlformats.org/drawingml/2006/main">
            <a:off x="723900" y="3486150"/>
            <a:ext cx="1074420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90CA607-64B6-40F7-8A94-51D2EB3B6EE7}"/>
              </a:ext>
            </a:extLst>
          </p:cNvPr>
          <p:cNvSpPr>
            <a:spLocks xmlns:a="http://schemas.openxmlformats.org/drawingml/2006/main" noGrp="1"/>
          </p:cNvSpPr>
          <p:nvPr/>
        </p:nvSpPr>
        <p:spPr>
          <a:xfrm xmlns:a="http://schemas.openxmlformats.org/drawingml/2006/main">
            <a:off x="723900" y="3905250"/>
            <a:ext cx="4095750" cy="1581150"/>
          </a:xfrm>
          <a:prstGeom xmlns:a="http://schemas.openxmlformats.org/drawingml/2006/main" prst="roundRect">
            <a:avLst>
              <a:gd name="adj" fmla="val 9639"/>
            </a:avLst>
          </a:prstGeom>
          <a:solidFill xmlns:a="http://schemas.openxmlformats.org/drawingml/2006/main">
            <a:srgbClr val="F6E6DA"/>
          </a:solidFill>
          <a:ln xmlns:a="http://schemas.openxmlformats.org/drawingml/2006/main" w="9525">
            <a:solidFill>
              <a:srgbClr val="D9854F"/>
            </a:solidFill>
            <a:prstDash val="solid"/>
          </a:ln>
        </p:spPr>
      </p:sp>
      <p:sp>
        <p:nvSpPr>
          <p:cNvPr id="21" name="">
            <a:extLst xmlns:a="http://schemas.openxmlformats.org/drawingml/2006/main">
              <a:ext uri="{FF2B5EF4-FFF2-40B4-BE49-F238E27FC236}">
                <a16:creationId xmlns:a16="http://schemas.microsoft.com/office/drawing/2014/main" id="{9C6FF725-818E-4EC2-B302-73ED078EECEA}"/>
              </a:ext>
            </a:extLst>
          </p:cNvPr>
          <p:cNvSpPr>
            <a:spLocks xmlns:a="http://schemas.openxmlformats.org/drawingml/2006/main" noGrp="1"/>
          </p:cNvSpPr>
          <p:nvPr/>
        </p:nvSpPr>
        <p:spPr>
          <a:xfrm xmlns:a="http://schemas.openxmlformats.org/drawingml/2006/main">
            <a:off x="9906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A94725"/>
                </a:solidFill>
                <a:latin typeface="Noto Sans KR"/>
                <a:ea typeface="Noto Sans KR"/>
                <a:cs typeface="Noto Sans KR"/>
              </a:defRPr>
            </a:pPr>
            <a:r>
              <a:rPr sz="1650" b="1">
                <a:solidFill>
                  <a:srgbClr val="A94725"/>
                </a:solidFill>
                <a:latin typeface="Noto Sans KR"/>
                <a:ea typeface="Noto Sans KR"/>
                <a:cs typeface="Noto Sans KR"/>
              </a:rPr>
              <a:t>현재 문제</a:t>
            </a:r>
          </a:p>
        </p:txBody>
      </p:sp>
      <p:sp>
        <p:nvSpPr>
          <p:cNvPr id="22" name="">
            <a:extLst xmlns:a="http://schemas.openxmlformats.org/drawingml/2006/main">
              <a:ext uri="{FF2B5EF4-FFF2-40B4-BE49-F238E27FC236}">
                <a16:creationId xmlns:a16="http://schemas.microsoft.com/office/drawing/2014/main" id="{19A079EE-EF0C-4790-8054-13514ADEA5FE}"/>
              </a:ext>
            </a:extLst>
          </p:cNvPr>
          <p:cNvSpPr>
            <a:spLocks xmlns:a="http://schemas.openxmlformats.org/drawingml/2006/main" noGrp="1"/>
          </p:cNvSpPr>
          <p:nvPr/>
        </p:nvSpPr>
        <p:spPr>
          <a:xfrm xmlns:a="http://schemas.openxmlformats.org/drawingml/2006/main">
            <a:off x="990600" y="4476750"/>
            <a:ext cx="3448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정규식 입력에 의존</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한국어 인물·장소 보호 부족</a:t>
            </a:r>
          </a:p>
          <a:p xmlns:a="http://schemas.openxmlformats.org/drawingml/2006/main">
            <a:pPr algn="l">
              <a:defRPr sz="1425" b="0">
                <a:solidFill>
                  <a:srgbClr val="173042"/>
                </a:solidFill>
                <a:latin typeface="Noto Sans KR"/>
                <a:ea typeface="Noto Sans KR"/>
                <a:cs typeface="Noto Sans KR"/>
              </a:defRPr>
            </a:pPr>
            <a:r>
              <a:rPr sz="1425" b="0">
                <a:solidFill>
                  <a:srgbClr val="173042"/>
                </a:solidFill>
                <a:latin typeface="Noto Sans KR"/>
                <a:ea typeface="Noto Sans KR"/>
                <a:cs typeface="Noto Sans KR"/>
              </a:rPr>
              <a:t>문자열 유사도와 단일 결과에 의존</a:t>
            </a:r>
          </a:p>
        </p:txBody>
      </p:sp>
      <p:sp>
        <p:nvSpPr>
          <p:cNvPr id="23" name="">
            <a:extLst xmlns:a="http://schemas.openxmlformats.org/drawingml/2006/main">
              <a:ext uri="{FF2B5EF4-FFF2-40B4-BE49-F238E27FC236}">
                <a16:creationId xmlns:a16="http://schemas.microsoft.com/office/drawing/2014/main" id="{A8C4AC89-9C1C-4406-92BC-BCDEEF9A0303}"/>
              </a:ext>
            </a:extLst>
          </p:cNvPr>
          <p:cNvSpPr>
            <a:spLocks xmlns:a="http://schemas.openxmlformats.org/drawingml/2006/main" noGrp="1"/>
          </p:cNvSpPr>
          <p:nvPr/>
        </p:nvSpPr>
        <p:spPr>
          <a:xfrm xmlns:a="http://schemas.openxmlformats.org/drawingml/2006/main">
            <a:off x="5048250" y="4343400"/>
            <a:ext cx="933450" cy="685800"/>
          </a:xfrm>
          <a:prstGeom xmlns:a="http://schemas.openxmlformats.org/drawingml/2006/main" prst="rightArrow">
            <a:avLst/>
          </a:prstGeom>
          <a:solidFill xmlns:a="http://schemas.openxmlformats.org/drawingml/2006/main">
            <a:srgbClr val="18788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04A0CE5-86D4-4826-A1BB-B2AF0B6CC765}"/>
              </a:ext>
            </a:extLst>
          </p:cNvPr>
          <p:cNvSpPr>
            <a:spLocks xmlns:a="http://schemas.openxmlformats.org/drawingml/2006/main" noGrp="1"/>
          </p:cNvSpPr>
          <p:nvPr/>
        </p:nvSpPr>
        <p:spPr>
          <a:xfrm xmlns:a="http://schemas.openxmlformats.org/drawingml/2006/main">
            <a:off x="6210300" y="3905250"/>
            <a:ext cx="5257800" cy="1581150"/>
          </a:xfrm>
          <a:prstGeom xmlns:a="http://schemas.openxmlformats.org/drawingml/2006/main" prst="roundRect">
            <a:avLst>
              <a:gd name="adj" fmla="val 9639"/>
            </a:avLst>
          </a:prstGeom>
          <a:solidFill xmlns:a="http://schemas.openxmlformats.org/drawingml/2006/main">
            <a:srgbClr val="D9EEF0"/>
          </a:solidFill>
          <a:ln xmlns:a="http://schemas.openxmlformats.org/drawingml/2006/main" w="9525">
            <a:solidFill>
              <a:srgbClr val="18788A"/>
            </a:solidFill>
            <a:prstDash val="solid"/>
          </a:ln>
        </p:spPr>
      </p:sp>
      <p:sp>
        <p:nvSpPr>
          <p:cNvPr id="25" name="">
            <a:extLst xmlns:a="http://schemas.openxmlformats.org/drawingml/2006/main">
              <a:ext uri="{FF2B5EF4-FFF2-40B4-BE49-F238E27FC236}">
                <a16:creationId xmlns:a16="http://schemas.microsoft.com/office/drawing/2014/main" id="{A061A0DF-2171-4EFC-AA3B-19E1B5031FAE}"/>
              </a:ext>
            </a:extLst>
          </p:cNvPr>
          <p:cNvSpPr>
            <a:spLocks xmlns:a="http://schemas.openxmlformats.org/drawingml/2006/main" noGrp="1"/>
          </p:cNvSpPr>
          <p:nvPr/>
        </p:nvSpPr>
        <p:spPr>
          <a:xfrm xmlns:a="http://schemas.openxmlformats.org/drawingml/2006/main">
            <a:off x="6477000" y="407670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개선 방향</a:t>
            </a:r>
          </a:p>
        </p:txBody>
      </p:sp>
      <p:sp>
        <p:nvSpPr>
          <p:cNvPr id="26" name="">
            <a:extLst xmlns:a="http://schemas.openxmlformats.org/drawingml/2006/main">
              <a:ext uri="{FF2B5EF4-FFF2-40B4-BE49-F238E27FC236}">
                <a16:creationId xmlns:a16="http://schemas.microsoft.com/office/drawing/2014/main" id="{E0B6B512-4E2C-48A1-8586-03D119BD398A}"/>
              </a:ext>
            </a:extLst>
          </p:cNvPr>
          <p:cNvSpPr>
            <a:spLocks xmlns:a="http://schemas.openxmlformats.org/drawingml/2006/main" noGrp="1"/>
          </p:cNvSpPr>
          <p:nvPr/>
        </p:nvSpPr>
        <p:spPr>
          <a:xfrm xmlns:a="http://schemas.openxmlformats.org/drawingml/2006/main">
            <a:off x="6477000" y="4476750"/>
            <a:ext cx="46101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JSON 입력과 변경 금지 목록</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앞뒤 문맥을 포함한 후보 3개 생성</a:t>
            </a:r>
          </a:p>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규칙·의미·루트 검사 후 원문 복구</a:t>
            </a:r>
          </a:p>
        </p:txBody>
      </p:sp>
      <p:sp>
        <p:nvSpPr>
          <p:cNvPr id="27" name="">
            <a:extLst xmlns:a="http://schemas.openxmlformats.org/drawingml/2006/main">
              <a:ext uri="{FF2B5EF4-FFF2-40B4-BE49-F238E27FC236}">
                <a16:creationId xmlns:a16="http://schemas.microsoft.com/office/drawing/2014/main" id="{5545C371-7214-4853-A758-D4C31A07FC5B}"/>
              </a:ext>
            </a:extLst>
          </p:cNvPr>
          <p:cNvSpPr>
            <a:spLocks xmlns:a="http://schemas.openxmlformats.org/drawingml/2006/main" noGrp="1"/>
          </p:cNvSpPr>
          <p:nvPr/>
        </p:nvSpPr>
        <p:spPr>
          <a:xfrm xmlns:a="http://schemas.openxmlformats.org/drawingml/2006/main">
            <a:off x="723900" y="5905500"/>
            <a:ext cx="1078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입력과 검증을 안정화한 뒤 매개변수 규모가 다른 두 모델을 비교해 상황에 맞게 적용합니다.</a:t>
            </a:r>
          </a:p>
        </p:txBody>
      </p:sp>
    </p:spTree>
    <p:extLst>
      <p:ext uri="{BB962C8B-B14F-4D97-AF65-F5344CB8AC3E}">
        <p14:creationId xmlns:p14="http://schemas.microsoft.com/office/powerpoint/2010/main" val="1195291062"/>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DA960FC-6EA7-4CC1-AB6E-17A19A66CB18}"/>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8AA69E5D-EA9F-40DE-BAC7-4536E3B81080}"/>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41DBBD9E-1F46-412E-8A0F-61FF15F8FA27}"/>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85E1DB9-FF17-4905-9FEE-31BF6F1C9F8C}"/>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887D893E-82C4-47D6-9E9D-85226CBFA4C6}"/>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입력 표준화</a:t>
            </a:r>
          </a:p>
        </p:txBody>
      </p:sp>
      <p:sp>
        <p:nvSpPr>
          <p:cNvPr id="6" name="">
            <a:extLst xmlns:a="http://schemas.openxmlformats.org/drawingml/2006/main">
              <a:ext uri="{FF2B5EF4-FFF2-40B4-BE49-F238E27FC236}">
                <a16:creationId xmlns:a16="http://schemas.microsoft.com/office/drawing/2014/main" id="{A8585265-ECB3-484C-99EA-2A3CF75EBB8B}"/>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JSON 스키마와 변경 금지 항목 정의</a:t>
            </a:r>
          </a:p>
        </p:txBody>
      </p:sp>
      <p:sp>
        <p:nvSpPr>
          <p:cNvPr id="7" name="">
            <a:extLst xmlns:a="http://schemas.openxmlformats.org/drawingml/2006/main">
              <a:ext uri="{FF2B5EF4-FFF2-40B4-BE49-F238E27FC236}">
                <a16:creationId xmlns:a16="http://schemas.microsoft.com/office/drawing/2014/main" id="{15BB8448-93FF-4A96-A022-1E8BA2AFEF2F}"/>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C65DBE-0324-4D7B-ADA1-F641A90501A6}"/>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91D322F3-EA76-4A42-88BF-44EF59AF784D}"/>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모델 비교</a:t>
            </a:r>
          </a:p>
        </p:txBody>
      </p:sp>
      <p:sp>
        <p:nvSpPr>
          <p:cNvPr id="10" name="">
            <a:extLst xmlns:a="http://schemas.openxmlformats.org/drawingml/2006/main">
              <a:ext uri="{FF2B5EF4-FFF2-40B4-BE49-F238E27FC236}">
                <a16:creationId xmlns:a16="http://schemas.microsoft.com/office/drawing/2014/main" id="{CACB65F9-3011-414F-91C4-2DA5C7EEB176}"/>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매개변수 규모가 다른 Kanana 두 버전을 동일 조건에서 평가</a:t>
            </a:r>
          </a:p>
        </p:txBody>
      </p:sp>
      <p:sp>
        <p:nvSpPr>
          <p:cNvPr id="11" name="">
            <a:extLst xmlns:a="http://schemas.openxmlformats.org/drawingml/2006/main">
              <a:ext uri="{FF2B5EF4-FFF2-40B4-BE49-F238E27FC236}">
                <a16:creationId xmlns:a16="http://schemas.microsoft.com/office/drawing/2014/main" id="{D7719EC2-039E-4743-A53E-89F9750B5679}"/>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4C43EA-1354-43CA-9656-42F036E6EA57}"/>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56CD859D-4E18-4523-B0FF-420F0A1CD5A2}"/>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품질 검증</a:t>
            </a:r>
          </a:p>
        </p:txBody>
      </p:sp>
      <p:sp>
        <p:nvSpPr>
          <p:cNvPr id="14" name="">
            <a:extLst xmlns:a="http://schemas.openxmlformats.org/drawingml/2006/main">
              <a:ext uri="{FF2B5EF4-FFF2-40B4-BE49-F238E27FC236}">
                <a16:creationId xmlns:a16="http://schemas.microsoft.com/office/drawing/2014/main" id="{24EB2320-C49E-4273-8146-8AACCF780853}"/>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규칙·의미·루트 검사와 원문 복구</a:t>
            </a:r>
          </a:p>
        </p:txBody>
      </p:sp>
      <p:sp>
        <p:nvSpPr>
          <p:cNvPr id="15" name="">
            <a:extLst xmlns:a="http://schemas.openxmlformats.org/drawingml/2006/main">
              <a:ext uri="{FF2B5EF4-FFF2-40B4-BE49-F238E27FC236}">
                <a16:creationId xmlns:a16="http://schemas.microsoft.com/office/drawing/2014/main" id="{6A455568-0380-46CC-9610-A2FC62D99B21}"/>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BCC2C31-C391-4BA2-BF0A-C10F95A08B4A}"/>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772D15CC-D4B2-47E7-8CC2-09C9ABAC56FA}"/>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연동</a:t>
            </a:r>
          </a:p>
        </p:txBody>
      </p:sp>
      <p:sp>
        <p:nvSpPr>
          <p:cNvPr id="18" name="">
            <a:extLst xmlns:a="http://schemas.openxmlformats.org/drawingml/2006/main">
              <a:ext uri="{FF2B5EF4-FFF2-40B4-BE49-F238E27FC236}">
                <a16:creationId xmlns:a16="http://schemas.microsoft.com/office/drawing/2014/main" id="{1D6EF886-177A-4D6E-8856-D5C50F624616}"/>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검증 결과를 terrain·대화·미니게임에 반영</a:t>
            </a:r>
          </a:p>
        </p:txBody>
      </p:sp>
      <p:sp>
        <p:nvSpPr>
          <p:cNvPr id="19" name="">
            <a:extLst xmlns:a="http://schemas.openxmlformats.org/drawingml/2006/main">
              <a:ext uri="{FF2B5EF4-FFF2-40B4-BE49-F238E27FC236}">
                <a16:creationId xmlns:a16="http://schemas.microsoft.com/office/drawing/2014/main" id="{32A31C5E-62B8-4671-837C-7347AFBAB66E}"/>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모델을 바로 학습시키기보다 평가 가능한 구조와 승인 데이터를 먼저 만듭니다.</a:t>
            </a:r>
          </a:p>
        </p:txBody>
      </p:sp>
    </p:spTree>
    <p:extLst>
      <p:ext uri="{BB962C8B-B14F-4D97-AF65-F5344CB8AC3E}">
        <p14:creationId xmlns:p14="http://schemas.microsoft.com/office/powerpoint/2010/main" val="2022032030"/>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49D7146-011D-46DE-BB9C-0804A22D1BDD}"/>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242CF5E8-A03E-486F-8283-CB35C475505B}"/>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DAB6C5A3-6955-4B7F-8CE7-27B06FDBC2E8}"/>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2F4560-BE6A-4C91-950D-24FE0804BF39}"/>
              </a:ext>
            </a:extLst>
          </p:cNvPr>
          <p:cNvSpPr>
            <a:spLocks xmlns:a="http://schemas.openxmlformats.org/drawingml/2006/main" noGrp="1"/>
          </p:cNvSpPr>
          <p:nvPr/>
        </p:nvSpPr>
        <p:spPr>
          <a:xfrm xmlns:a="http://schemas.openxmlformats.org/drawingml/2006/main">
            <a:off x="5143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31FC4F11-8520-4255-901C-A3DDA311A0E3}"/>
              </a:ext>
            </a:extLst>
          </p:cNvPr>
          <p:cNvSpPr>
            <a:spLocks xmlns:a="http://schemas.openxmlformats.org/drawingml/2006/main" noGrp="1"/>
          </p:cNvSpPr>
          <p:nvPr/>
        </p:nvSpPr>
        <p:spPr>
          <a:xfrm xmlns:a="http://schemas.openxmlformats.org/drawingml/2006/main">
            <a:off x="5143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상태 수집</a:t>
            </a:r>
          </a:p>
        </p:txBody>
      </p:sp>
      <p:sp>
        <p:nvSpPr>
          <p:cNvPr id="6" name="">
            <a:extLst xmlns:a="http://schemas.openxmlformats.org/drawingml/2006/main">
              <a:ext uri="{FF2B5EF4-FFF2-40B4-BE49-F238E27FC236}">
                <a16:creationId xmlns:a16="http://schemas.microsoft.com/office/drawing/2014/main" id="{04470C90-8671-4262-99DA-2FCBCB8AA33C}"/>
              </a:ext>
            </a:extLst>
          </p:cNvPr>
          <p:cNvSpPr>
            <a:spLocks xmlns:a="http://schemas.openxmlformats.org/drawingml/2006/main" noGrp="1"/>
          </p:cNvSpPr>
          <p:nvPr/>
        </p:nvSpPr>
        <p:spPr>
          <a:xfrm xmlns:a="http://schemas.openxmlformats.org/drawingml/2006/main">
            <a:off x="5143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Excel·SaveData</a:t>
            </a:r>
          </a:p>
        </p:txBody>
      </p:sp>
      <p:sp>
        <p:nvSpPr>
          <p:cNvPr id="7" name="">
            <a:extLst xmlns:a="http://schemas.openxmlformats.org/drawingml/2006/main">
              <a:ext uri="{FF2B5EF4-FFF2-40B4-BE49-F238E27FC236}">
                <a16:creationId xmlns:a16="http://schemas.microsoft.com/office/drawing/2014/main" id="{C70F6AF0-CC48-4DE2-AB11-8B88DEF805F6}"/>
              </a:ext>
            </a:extLst>
          </p:cNvPr>
          <p:cNvSpPr>
            <a:spLocks xmlns:a="http://schemas.openxmlformats.org/drawingml/2006/main" noGrp="1"/>
          </p:cNvSpPr>
          <p:nvPr/>
        </p:nvSpPr>
        <p:spPr>
          <a:xfrm xmlns:a="http://schemas.openxmlformats.org/drawingml/2006/main">
            <a:off x="5143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선택·관계·현재 루트</a:t>
            </a:r>
          </a:p>
        </p:txBody>
      </p:sp>
      <p:sp>
        <p:nvSpPr>
          <p:cNvPr id="8" name="">
            <a:extLst xmlns:a="http://schemas.openxmlformats.org/drawingml/2006/main">
              <a:ext uri="{FF2B5EF4-FFF2-40B4-BE49-F238E27FC236}">
                <a16:creationId xmlns:a16="http://schemas.microsoft.com/office/drawing/2014/main" id="{0F02B838-A7A9-4247-8F91-D64EF3C41DC6}"/>
              </a:ext>
            </a:extLst>
          </p:cNvPr>
          <p:cNvSpPr>
            <a:spLocks xmlns:a="http://schemas.openxmlformats.org/drawingml/2006/main" noGrp="1"/>
          </p:cNvSpPr>
          <p:nvPr/>
        </p:nvSpPr>
        <p:spPr>
          <a:xfrm xmlns:a="http://schemas.openxmlformats.org/drawingml/2006/main">
            <a:off x="26098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57025B-767B-4652-8F78-576C316B471D}"/>
              </a:ext>
            </a:extLst>
          </p:cNvPr>
          <p:cNvSpPr>
            <a:spLocks xmlns:a="http://schemas.openxmlformats.org/drawingml/2006/main" noGrp="1"/>
          </p:cNvSpPr>
          <p:nvPr/>
        </p:nvSpPr>
        <p:spPr>
          <a:xfrm xmlns:a="http://schemas.openxmlformats.org/drawingml/2006/main">
            <a:off x="28384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5AC4D523-F403-48DE-84F8-F4BA809A96B9}"/>
              </a:ext>
            </a:extLst>
          </p:cNvPr>
          <p:cNvSpPr>
            <a:spLocks xmlns:a="http://schemas.openxmlformats.org/drawingml/2006/main" noGrp="1"/>
          </p:cNvSpPr>
          <p:nvPr/>
        </p:nvSpPr>
        <p:spPr>
          <a:xfrm xmlns:a="http://schemas.openxmlformats.org/drawingml/2006/main">
            <a:off x="28384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입력 검증</a:t>
            </a:r>
          </a:p>
        </p:txBody>
      </p:sp>
      <p:sp>
        <p:nvSpPr>
          <p:cNvPr id="11" name="">
            <a:extLst xmlns:a="http://schemas.openxmlformats.org/drawingml/2006/main">
              <a:ext uri="{FF2B5EF4-FFF2-40B4-BE49-F238E27FC236}">
                <a16:creationId xmlns:a16="http://schemas.microsoft.com/office/drawing/2014/main" id="{3DB2569D-809D-4A53-BE3D-7F3C61199F9E}"/>
              </a:ext>
            </a:extLst>
          </p:cNvPr>
          <p:cNvSpPr>
            <a:spLocks xmlns:a="http://schemas.openxmlformats.org/drawingml/2006/main" noGrp="1"/>
          </p:cNvSpPr>
          <p:nvPr/>
        </p:nvSpPr>
        <p:spPr>
          <a:xfrm xmlns:a="http://schemas.openxmlformats.org/drawingml/2006/main">
            <a:off x="28384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Pydantic(입력 검증)</a:t>
            </a:r>
          </a:p>
        </p:txBody>
      </p:sp>
      <p:sp>
        <p:nvSpPr>
          <p:cNvPr id="12" name="">
            <a:extLst xmlns:a="http://schemas.openxmlformats.org/drawingml/2006/main">
              <a:ext uri="{FF2B5EF4-FFF2-40B4-BE49-F238E27FC236}">
                <a16:creationId xmlns:a16="http://schemas.microsoft.com/office/drawing/2014/main" id="{8068CFC4-A215-4FFF-8233-2F0588EE5E72}"/>
              </a:ext>
            </a:extLst>
          </p:cNvPr>
          <p:cNvSpPr>
            <a:spLocks xmlns:a="http://schemas.openxmlformats.org/drawingml/2006/main" noGrp="1"/>
          </p:cNvSpPr>
          <p:nvPr/>
        </p:nvSpPr>
        <p:spPr>
          <a:xfrm xmlns:a="http://schemas.openxmlformats.org/drawingml/2006/main">
            <a:off x="28384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필수 필드와 변경 금지 목록</a:t>
            </a:r>
          </a:p>
        </p:txBody>
      </p:sp>
      <p:sp>
        <p:nvSpPr>
          <p:cNvPr id="13" name="">
            <a:extLst xmlns:a="http://schemas.openxmlformats.org/drawingml/2006/main">
              <a:ext uri="{FF2B5EF4-FFF2-40B4-BE49-F238E27FC236}">
                <a16:creationId xmlns:a16="http://schemas.microsoft.com/office/drawing/2014/main" id="{FC759FCC-D80F-4B7A-B4DA-55113ABBCC88}"/>
              </a:ext>
            </a:extLst>
          </p:cNvPr>
          <p:cNvSpPr>
            <a:spLocks xmlns:a="http://schemas.openxmlformats.org/drawingml/2006/main" noGrp="1"/>
          </p:cNvSpPr>
          <p:nvPr/>
        </p:nvSpPr>
        <p:spPr>
          <a:xfrm xmlns:a="http://schemas.openxmlformats.org/drawingml/2006/main">
            <a:off x="49339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B5B05C-4875-4CAA-94A0-6F74D9BFF7A4}"/>
              </a:ext>
            </a:extLst>
          </p:cNvPr>
          <p:cNvSpPr>
            <a:spLocks xmlns:a="http://schemas.openxmlformats.org/drawingml/2006/main" noGrp="1"/>
          </p:cNvSpPr>
          <p:nvPr/>
        </p:nvSpPr>
        <p:spPr>
          <a:xfrm xmlns:a="http://schemas.openxmlformats.org/drawingml/2006/main">
            <a:off x="51625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05A5C4AA-25F5-4B04-8D99-7A5E51250F15}"/>
              </a:ext>
            </a:extLst>
          </p:cNvPr>
          <p:cNvSpPr>
            <a:spLocks xmlns:a="http://schemas.openxmlformats.org/drawingml/2006/main" noGrp="1"/>
          </p:cNvSpPr>
          <p:nvPr/>
        </p:nvSpPr>
        <p:spPr>
          <a:xfrm xmlns:a="http://schemas.openxmlformats.org/drawingml/2006/main">
            <a:off x="51625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후보 생성</a:t>
            </a:r>
          </a:p>
        </p:txBody>
      </p:sp>
      <p:sp>
        <p:nvSpPr>
          <p:cNvPr id="16" name="">
            <a:extLst xmlns:a="http://schemas.openxmlformats.org/drawingml/2006/main">
              <a:ext uri="{FF2B5EF4-FFF2-40B4-BE49-F238E27FC236}">
                <a16:creationId xmlns:a16="http://schemas.microsoft.com/office/drawing/2014/main" id="{12C16EF6-25F1-457D-A08D-4880399CCC98}"/>
              </a:ext>
            </a:extLst>
          </p:cNvPr>
          <p:cNvSpPr>
            <a:spLocks xmlns:a="http://schemas.openxmlformats.org/drawingml/2006/main" noGrp="1"/>
          </p:cNvSpPr>
          <p:nvPr/>
        </p:nvSpPr>
        <p:spPr>
          <a:xfrm xmlns:a="http://schemas.openxmlformats.org/drawingml/2006/main">
            <a:off x="51625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Kanana 1.3B·3B</a:t>
            </a:r>
          </a:p>
        </p:txBody>
      </p:sp>
      <p:sp>
        <p:nvSpPr>
          <p:cNvPr id="17" name="">
            <a:extLst xmlns:a="http://schemas.openxmlformats.org/drawingml/2006/main">
              <a:ext uri="{FF2B5EF4-FFF2-40B4-BE49-F238E27FC236}">
                <a16:creationId xmlns:a16="http://schemas.microsoft.com/office/drawing/2014/main" id="{6939D6B5-0F22-4277-8818-00CC04CC8608}"/>
              </a:ext>
            </a:extLst>
          </p:cNvPr>
          <p:cNvSpPr>
            <a:spLocks xmlns:a="http://schemas.openxmlformats.org/drawingml/2006/main" noGrp="1"/>
          </p:cNvSpPr>
          <p:nvPr/>
        </p:nvSpPr>
        <p:spPr>
          <a:xfrm xmlns:a="http://schemas.openxmlformats.org/drawingml/2006/main">
            <a:off x="51625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문맥을 포함해 3개 생성</a:t>
            </a:r>
          </a:p>
        </p:txBody>
      </p:sp>
      <p:sp>
        <p:nvSpPr>
          <p:cNvPr id="18" name="">
            <a:extLst xmlns:a="http://schemas.openxmlformats.org/drawingml/2006/main">
              <a:ext uri="{FF2B5EF4-FFF2-40B4-BE49-F238E27FC236}">
                <a16:creationId xmlns:a16="http://schemas.microsoft.com/office/drawing/2014/main" id="{B0D0847D-B1B6-4556-BA1A-44F9B3BBF42B}"/>
              </a:ext>
            </a:extLst>
          </p:cNvPr>
          <p:cNvSpPr>
            <a:spLocks xmlns:a="http://schemas.openxmlformats.org/drawingml/2006/main" noGrp="1"/>
          </p:cNvSpPr>
          <p:nvPr/>
        </p:nvSpPr>
        <p:spPr>
          <a:xfrm xmlns:a="http://schemas.openxmlformats.org/drawingml/2006/main">
            <a:off x="72580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452FD11-E903-4E60-A5B3-40E2120373B8}"/>
              </a:ext>
            </a:extLst>
          </p:cNvPr>
          <p:cNvSpPr>
            <a:spLocks xmlns:a="http://schemas.openxmlformats.org/drawingml/2006/main" noGrp="1"/>
          </p:cNvSpPr>
          <p:nvPr/>
        </p:nvSpPr>
        <p:spPr>
          <a:xfrm xmlns:a="http://schemas.openxmlformats.org/drawingml/2006/main">
            <a:off x="74866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8788A"/>
                </a:solidFill>
                <a:latin typeface="Noto Sans KR"/>
                <a:ea typeface="Noto Sans KR"/>
                <a:cs typeface="Noto Sans KR"/>
              </a:defRPr>
            </a:pPr>
            <a:r>
              <a:rPr sz="1875" b="1">
                <a:solidFill>
                  <a:srgbClr val="18788A"/>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E6456149-8839-4E11-A5CB-A46C8135824C}"/>
              </a:ext>
            </a:extLst>
          </p:cNvPr>
          <p:cNvSpPr>
            <a:spLocks xmlns:a="http://schemas.openxmlformats.org/drawingml/2006/main" noGrp="1"/>
          </p:cNvSpPr>
          <p:nvPr/>
        </p:nvSpPr>
        <p:spPr>
          <a:xfrm xmlns:a="http://schemas.openxmlformats.org/drawingml/2006/main">
            <a:off x="74866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품질 판정</a:t>
            </a:r>
          </a:p>
        </p:txBody>
      </p:sp>
      <p:sp>
        <p:nvSpPr>
          <p:cNvPr id="21" name="">
            <a:extLst xmlns:a="http://schemas.openxmlformats.org/drawingml/2006/main">
              <a:ext uri="{FF2B5EF4-FFF2-40B4-BE49-F238E27FC236}">
                <a16:creationId xmlns:a16="http://schemas.microsoft.com/office/drawing/2014/main" id="{5DEFC570-158C-431F-84A7-0EFC24C15CCD}"/>
              </a:ext>
            </a:extLst>
          </p:cNvPr>
          <p:cNvSpPr>
            <a:spLocks xmlns:a="http://schemas.openxmlformats.org/drawingml/2006/main" noGrp="1"/>
          </p:cNvSpPr>
          <p:nvPr/>
        </p:nvSpPr>
        <p:spPr>
          <a:xfrm xmlns:a="http://schemas.openxmlformats.org/drawingml/2006/main">
            <a:off x="74866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규칙·의미·루트</a:t>
            </a:r>
          </a:p>
        </p:txBody>
      </p:sp>
      <p:sp>
        <p:nvSpPr>
          <p:cNvPr id="22" name="">
            <a:extLst xmlns:a="http://schemas.openxmlformats.org/drawingml/2006/main">
              <a:ext uri="{FF2B5EF4-FFF2-40B4-BE49-F238E27FC236}">
                <a16:creationId xmlns:a16="http://schemas.microsoft.com/office/drawing/2014/main" id="{D1ACF4CF-7B02-4714-9034-B6580D154440}"/>
              </a:ext>
            </a:extLst>
          </p:cNvPr>
          <p:cNvSpPr>
            <a:spLocks xmlns:a="http://schemas.openxmlformats.org/drawingml/2006/main" noGrp="1"/>
          </p:cNvSpPr>
          <p:nvPr/>
        </p:nvSpPr>
        <p:spPr>
          <a:xfrm xmlns:a="http://schemas.openxmlformats.org/drawingml/2006/main">
            <a:off x="74866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통과 결과 선택·원문 복구</a:t>
            </a:r>
          </a:p>
        </p:txBody>
      </p:sp>
      <p:sp>
        <p:nvSpPr>
          <p:cNvPr id="23" name="">
            <a:extLst xmlns:a="http://schemas.openxmlformats.org/drawingml/2006/main">
              <a:ext uri="{FF2B5EF4-FFF2-40B4-BE49-F238E27FC236}">
                <a16:creationId xmlns:a16="http://schemas.microsoft.com/office/drawing/2014/main" id="{D34FF06D-2EDB-46B6-888E-5FDFD995FCC5}"/>
              </a:ext>
            </a:extLst>
          </p:cNvPr>
          <p:cNvSpPr>
            <a:spLocks xmlns:a="http://schemas.openxmlformats.org/drawingml/2006/main" noGrp="1"/>
          </p:cNvSpPr>
          <p:nvPr/>
        </p:nvSpPr>
        <p:spPr>
          <a:xfrm xmlns:a="http://schemas.openxmlformats.org/drawingml/2006/main">
            <a:off x="95821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0905D80C-A1AA-4116-901D-18C5F4AE2FD4}"/>
              </a:ext>
            </a:extLst>
          </p:cNvPr>
          <p:cNvSpPr>
            <a:spLocks xmlns:a="http://schemas.openxmlformats.org/drawingml/2006/main" noGrp="1"/>
          </p:cNvSpPr>
          <p:nvPr/>
        </p:nvSpPr>
        <p:spPr>
          <a:xfrm xmlns:a="http://schemas.openxmlformats.org/drawingml/2006/main">
            <a:off x="9810750" y="1428750"/>
            <a:ext cx="609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D9854F"/>
                </a:solidFill>
                <a:latin typeface="Noto Sans KR"/>
                <a:ea typeface="Noto Sans KR"/>
                <a:cs typeface="Noto Sans KR"/>
              </a:defRPr>
            </a:pPr>
            <a:r>
              <a:rPr sz="1875" b="1">
                <a:solidFill>
                  <a:srgbClr val="D9854F"/>
                </a:solidFill>
                <a:latin typeface="Noto Sans KR"/>
                <a:ea typeface="Noto Sans KR"/>
                <a:cs typeface="Noto Sans KR"/>
              </a:rPr>
              <a:t>05</a:t>
            </a:r>
          </a:p>
        </p:txBody>
      </p:sp>
      <p:sp>
        <p:nvSpPr>
          <p:cNvPr id="25" name="">
            <a:extLst xmlns:a="http://schemas.openxmlformats.org/drawingml/2006/main">
              <a:ext uri="{FF2B5EF4-FFF2-40B4-BE49-F238E27FC236}">
                <a16:creationId xmlns:a16="http://schemas.microsoft.com/office/drawing/2014/main" id="{48622681-8927-427B-93BF-E2C603D05022}"/>
              </a:ext>
            </a:extLst>
          </p:cNvPr>
          <p:cNvSpPr>
            <a:spLocks xmlns:a="http://schemas.openxmlformats.org/drawingml/2006/main" noGrp="1"/>
          </p:cNvSpPr>
          <p:nvPr/>
        </p:nvSpPr>
        <p:spPr>
          <a:xfrm xmlns:a="http://schemas.openxmlformats.org/drawingml/2006/main">
            <a:off x="9810750" y="186690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173042"/>
                </a:solidFill>
                <a:latin typeface="Noto Sans KR"/>
                <a:ea typeface="Noto Sans KR"/>
                <a:cs typeface="Noto Sans KR"/>
              </a:defRPr>
            </a:pPr>
            <a:r>
              <a:rPr sz="1875" b="1">
                <a:solidFill>
                  <a:srgbClr val="173042"/>
                </a:solidFill>
                <a:latin typeface="Noto Sans KR"/>
                <a:ea typeface="Noto Sans KR"/>
                <a:cs typeface="Noto Sans KR"/>
              </a:rPr>
              <a:t>게임 반영</a:t>
            </a:r>
          </a:p>
        </p:txBody>
      </p:sp>
      <p:sp>
        <p:nvSpPr>
          <p:cNvPr id="26" name="">
            <a:extLst xmlns:a="http://schemas.openxmlformats.org/drawingml/2006/main">
              <a:ext uri="{FF2B5EF4-FFF2-40B4-BE49-F238E27FC236}">
                <a16:creationId xmlns:a16="http://schemas.microsoft.com/office/drawing/2014/main" id="{541D4A11-E2CE-4526-AA2C-843E8067126C}"/>
              </a:ext>
            </a:extLst>
          </p:cNvPr>
          <p:cNvSpPr>
            <a:spLocks xmlns:a="http://schemas.openxmlformats.org/drawingml/2006/main" noGrp="1"/>
          </p:cNvSpPr>
          <p:nvPr/>
        </p:nvSpPr>
        <p:spPr>
          <a:xfrm xmlns:a="http://schemas.openxmlformats.org/drawingml/2006/main">
            <a:off x="9810750" y="2324100"/>
            <a:ext cx="2038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Unity·C#</a:t>
            </a:r>
          </a:p>
        </p:txBody>
      </p:sp>
      <p:sp>
        <p:nvSpPr>
          <p:cNvPr id="27" name="">
            <a:extLst xmlns:a="http://schemas.openxmlformats.org/drawingml/2006/main">
              <a:ext uri="{FF2B5EF4-FFF2-40B4-BE49-F238E27FC236}">
                <a16:creationId xmlns:a16="http://schemas.microsoft.com/office/drawing/2014/main" id="{C49C765C-F123-4F91-81AB-A8965FA4CA29}"/>
              </a:ext>
            </a:extLst>
          </p:cNvPr>
          <p:cNvSpPr>
            <a:spLocks xmlns:a="http://schemas.openxmlformats.org/drawingml/2006/main" noGrp="1"/>
          </p:cNvSpPr>
          <p:nvPr/>
        </p:nvSpPr>
        <p:spPr>
          <a:xfrm xmlns:a="http://schemas.openxmlformats.org/drawingml/2006/main">
            <a:off x="9810750" y="2724150"/>
            <a:ext cx="2038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275" b="0">
                <a:solidFill>
                  <a:srgbClr val="5E6B75"/>
                </a:solidFill>
                <a:latin typeface="Noto Sans KR"/>
                <a:ea typeface="Noto Sans KR"/>
                <a:cs typeface="Noto Sans KR"/>
              </a:defRPr>
            </a:pPr>
            <a:r>
              <a:rPr sz="1275" b="0">
                <a:solidFill>
                  <a:srgbClr val="5E6B75"/>
                </a:solidFill>
                <a:latin typeface="Noto Sans KR"/>
                <a:ea typeface="Noto Sans KR"/>
                <a:cs typeface="Noto Sans KR"/>
              </a:rPr>
              <a:t>대화·terrain·미니게임</a:t>
            </a:r>
          </a:p>
        </p:txBody>
      </p:sp>
      <p:sp>
        <p:nvSpPr>
          <p:cNvPr id="28" name="">
            <a:extLst xmlns:a="http://schemas.openxmlformats.org/drawingml/2006/main">
              <a:ext uri="{FF2B5EF4-FFF2-40B4-BE49-F238E27FC236}">
                <a16:creationId xmlns:a16="http://schemas.microsoft.com/office/drawing/2014/main" id="{E741F836-447D-49FF-85EE-4BE1EC606002}"/>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07CD87F-7719-4F86-8D6A-EDF697BFF9AD}"/>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30" name="">
            <a:extLst xmlns:a="http://schemas.openxmlformats.org/drawingml/2006/main">
              <a:ext uri="{FF2B5EF4-FFF2-40B4-BE49-F238E27FC236}">
                <a16:creationId xmlns:a16="http://schemas.microsoft.com/office/drawing/2014/main" id="{75D961FA-B158-468D-BDCF-9AD7DB3665B5}"/>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모델</a:t>
            </a:r>
          </a:p>
        </p:txBody>
      </p:sp>
      <p:sp>
        <p:nvSpPr>
          <p:cNvPr id="31" name="">
            <a:extLst xmlns:a="http://schemas.openxmlformats.org/drawingml/2006/main">
              <a:ext uri="{FF2B5EF4-FFF2-40B4-BE49-F238E27FC236}">
                <a16:creationId xmlns:a16="http://schemas.microsoft.com/office/drawing/2014/main" id="{AAE42827-0D99-46BE-AC79-7B9B073C15F5}"/>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매개변수 규모가 다른 Kanana 두 버전 비교</a:t>
            </a:r>
          </a:p>
        </p:txBody>
      </p:sp>
      <p:sp>
        <p:nvSpPr>
          <p:cNvPr id="32" name="">
            <a:extLst xmlns:a="http://schemas.openxmlformats.org/drawingml/2006/main">
              <a:ext uri="{FF2B5EF4-FFF2-40B4-BE49-F238E27FC236}">
                <a16:creationId xmlns:a16="http://schemas.microsoft.com/office/drawing/2014/main" id="{4DA3D43B-C8BB-4B7B-8849-71B17928E00D}"/>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33" name="">
            <a:extLst xmlns:a="http://schemas.openxmlformats.org/drawingml/2006/main">
              <a:ext uri="{FF2B5EF4-FFF2-40B4-BE49-F238E27FC236}">
                <a16:creationId xmlns:a16="http://schemas.microsoft.com/office/drawing/2014/main" id="{09FC0C60-9E8B-4801-B6CB-CAD89878B6D6}"/>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Pydantic(파이댄틱), JSON Schema, 의미 검사</a:t>
            </a:r>
          </a:p>
        </p:txBody>
      </p:sp>
      <p:sp>
        <p:nvSpPr>
          <p:cNvPr id="34" name="">
            <a:extLst xmlns:a="http://schemas.openxmlformats.org/drawingml/2006/main">
              <a:ext uri="{FF2B5EF4-FFF2-40B4-BE49-F238E27FC236}">
                <a16:creationId xmlns:a16="http://schemas.microsoft.com/office/drawing/2014/main" id="{73CE6D5E-1DE3-4D29-B861-25F8AD887037}"/>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학습</a:t>
            </a:r>
          </a:p>
        </p:txBody>
      </p:sp>
      <p:sp>
        <p:nvSpPr>
          <p:cNvPr id="35" name="">
            <a:extLst xmlns:a="http://schemas.openxmlformats.org/drawingml/2006/main">
              <a:ext uri="{FF2B5EF4-FFF2-40B4-BE49-F238E27FC236}">
                <a16:creationId xmlns:a16="http://schemas.microsoft.com/office/drawing/2014/main" id="{9036A36B-D591-48A0-973B-45D28BFE3915}"/>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승인·거부 데이터를 축적한 뒤 LoRA 파인튜닝</a:t>
            </a:r>
          </a:p>
        </p:txBody>
      </p:sp>
      <p:sp>
        <p:nvSpPr>
          <p:cNvPr id="36" name="">
            <a:extLst xmlns:a="http://schemas.openxmlformats.org/drawingml/2006/main">
              <a:ext uri="{FF2B5EF4-FFF2-40B4-BE49-F238E27FC236}">
                <a16:creationId xmlns:a16="http://schemas.microsoft.com/office/drawing/2014/main" id="{7F842228-524F-4A0C-8C05-B2EF678E17A7}"/>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7" name="">
            <a:extLst xmlns:a="http://schemas.openxmlformats.org/drawingml/2006/main">
              <a:ext uri="{FF2B5EF4-FFF2-40B4-BE49-F238E27FC236}">
                <a16:creationId xmlns:a16="http://schemas.microsoft.com/office/drawing/2014/main" id="{D3EA1EA4-4434-4C44-886C-8652EDF7306E}"/>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Git</a:t>
            </a:r>
          </a:p>
        </p:txBody>
      </p:sp>
      <p:sp>
        <p:nvSpPr>
          <p:cNvPr id="38" name="">
            <a:extLst xmlns:a="http://schemas.openxmlformats.org/drawingml/2006/main">
              <a:ext uri="{FF2B5EF4-FFF2-40B4-BE49-F238E27FC236}">
                <a16:creationId xmlns:a16="http://schemas.microsoft.com/office/drawing/2014/main" id="{6E278E91-4185-4FA8-BB3B-3143CB8C66A8}"/>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좋은 결과와 실패 이유를 함께 저장해 이후 LoRA 학습 데이터로 사용합니다.</a:t>
            </a:r>
          </a:p>
        </p:txBody>
      </p:sp>
    </p:spTree>
    <p:extLst>
      <p:ext uri="{BB962C8B-B14F-4D97-AF65-F5344CB8AC3E}">
        <p14:creationId xmlns:p14="http://schemas.microsoft.com/office/powerpoint/2010/main" val="30796655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BC301A4-04FB-4E50-B462-2F7546E98EE5}"/>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858B56A9-3EC4-42D5-8C39-1A6BD2A4DB76}"/>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1A128489-157A-4F89-9311-67A1BE787B1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022C86-9DEE-4FDD-981F-0E452D71695F}"/>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F0714D57-6A1C-4598-B412-F9E39C7D9715}"/>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A02413F1-E7A0-4048-A982-17F3483E9328}"/>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형식</a:t>
            </a:r>
          </a:p>
        </p:txBody>
      </p:sp>
      <p:sp>
        <p:nvSpPr>
          <p:cNvPr id="7" name="">
            <a:extLst xmlns:a="http://schemas.openxmlformats.org/drawingml/2006/main">
              <a:ext uri="{FF2B5EF4-FFF2-40B4-BE49-F238E27FC236}">
                <a16:creationId xmlns:a16="http://schemas.microsoft.com/office/drawing/2014/main" id="{342394BE-E9F0-4FDF-B012-3CA7A4748215}"/>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JSON·ID·필수 필드 검사와 한국어 인물·장소 보존</a:t>
            </a:r>
          </a:p>
        </p:txBody>
      </p:sp>
      <p:sp>
        <p:nvSpPr>
          <p:cNvPr id="8" name="">
            <a:extLst xmlns:a="http://schemas.openxmlformats.org/drawingml/2006/main">
              <a:ext uri="{FF2B5EF4-FFF2-40B4-BE49-F238E27FC236}">
                <a16:creationId xmlns:a16="http://schemas.microsoft.com/office/drawing/2014/main" id="{D74F78EB-1934-4C5E-9148-F4E1ED0B1478}"/>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55B6ECAF-6DDC-4D46-9655-477F79498275}"/>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10" name="">
            <a:extLst xmlns:a="http://schemas.openxmlformats.org/drawingml/2006/main">
              <a:ext uri="{FF2B5EF4-FFF2-40B4-BE49-F238E27FC236}">
                <a16:creationId xmlns:a16="http://schemas.microsoft.com/office/drawing/2014/main" id="{010032EB-1001-407E-A240-05E93241990F}"/>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앞뒤 문맥과 핵심 사건을 유지하고 현재 루트를 이탈하지 않음</a:t>
            </a:r>
          </a:p>
        </p:txBody>
      </p:sp>
      <p:sp>
        <p:nvSpPr>
          <p:cNvPr id="11" name="">
            <a:extLst xmlns:a="http://schemas.openxmlformats.org/drawingml/2006/main">
              <a:ext uri="{FF2B5EF4-FFF2-40B4-BE49-F238E27FC236}">
                <a16:creationId xmlns:a16="http://schemas.microsoft.com/office/drawing/2014/main" id="{BBDFCC67-028B-4C64-A800-B5EBBB73FF6C}"/>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71D2009A-AF42-4C1A-AA08-4D1F7EED1C80}"/>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품질</a:t>
            </a:r>
          </a:p>
        </p:txBody>
      </p:sp>
      <p:sp>
        <p:nvSpPr>
          <p:cNvPr id="13" name="">
            <a:extLst xmlns:a="http://schemas.openxmlformats.org/drawingml/2006/main">
              <a:ext uri="{FF2B5EF4-FFF2-40B4-BE49-F238E27FC236}">
                <a16:creationId xmlns:a16="http://schemas.microsoft.com/office/drawing/2014/main" id="{8A089035-3EA4-47EE-BBAA-9802D8A03CBF}"/>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두 모델의 자연스러움, 반복 표현과 원문 복구율 비교</a:t>
            </a:r>
          </a:p>
        </p:txBody>
      </p:sp>
      <p:sp>
        <p:nvSpPr>
          <p:cNvPr id="14" name="">
            <a:extLst xmlns:a="http://schemas.openxmlformats.org/drawingml/2006/main">
              <a:ext uri="{FF2B5EF4-FFF2-40B4-BE49-F238E27FC236}">
                <a16:creationId xmlns:a16="http://schemas.microsoft.com/office/drawing/2014/main" id="{DF4C23C0-AE9C-4750-83E0-63B016896BC8}"/>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654F4677-8572-4B8F-9DC9-8962B521B075}"/>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EC1DB7F0-495F-45F2-969E-4225AD77E549}"/>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로딩 시간, 응답 시간, GPU 메모리와 캐시 효과 측정</a:t>
            </a:r>
          </a:p>
        </p:txBody>
      </p:sp>
      <p:sp>
        <p:nvSpPr>
          <p:cNvPr id="17" name="">
            <a:extLst xmlns:a="http://schemas.openxmlformats.org/drawingml/2006/main">
              <a:ext uri="{FF2B5EF4-FFF2-40B4-BE49-F238E27FC236}">
                <a16:creationId xmlns:a16="http://schemas.microsoft.com/office/drawing/2014/main" id="{F83910EC-CAFD-4FBF-997E-B5C54232B105}"/>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96D023F8-C2B1-439E-A610-172A3860E771}"/>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6D1BCDD1-BDBB-4542-B666-88E4BB97E361}"/>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재시도와 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표준화와 후보 평가를 추가하고, 승인 데이터가 쌓인 뒤 파인튜닝합니다.</a:t>
            </a:r>
          </a:p>
        </p:txBody>
      </p:sp>
    </p:spTree>
    <p:extLst>
      <p:ext uri="{BB962C8B-B14F-4D97-AF65-F5344CB8AC3E}">
        <p14:creationId xmlns:p14="http://schemas.microsoft.com/office/powerpoint/2010/main" val="1898876982"/>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274360-D540-4C8D-8588-A536F424376F}"/>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9B6516F9-2643-4606-A985-CA28E1AC167E}"/>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4ECF03DE-64BE-437B-AFA8-AC10A45A8106}"/>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D5AEA8-B941-4CFF-AAE5-3E88770F6753}"/>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174BE42-03C5-43C4-AC88-2761439EB4CB}"/>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1693077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2026-09-27T13:15:06.1450000Z</dcterms:created>
  <dcterms:modified xsi:type="dcterms:W3CDTF">2026-09-27T13:15:06.1450000Z</dcterms:modified>
</coreProperties>
</file>