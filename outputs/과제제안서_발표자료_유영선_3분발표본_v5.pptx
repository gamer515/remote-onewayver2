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35b1f4d0a2451f" /><Relationship Type="http://schemas.openxmlformats.org/officeDocument/2006/relationships/extended-properties" Target="/docProps/app.xml" Id="Rc7978bce2dd747aa" /><Relationship Type="http://schemas.openxmlformats.org/officeDocument/2006/relationships/officeDocument" Target="/ppt/presentation.xml" Id="Ree1d8eb7d5614d4a" /></Relationships>
</file>

<file path=ppt/presentation.xml><?xml version="1.0" encoding="utf-8"?>
<p:presentation xmlns:p="http://schemas.openxmlformats.org/presentationml/2006/main">
  <p:sldMasterIdLst>
    <p:sldMasterId xmlns:r="http://schemas.openxmlformats.org/officeDocument/2006/relationships" id="2147483648" r:id="Rd5d5b468c0fb4bc5"/>
  </p:sldMasterIdLst>
  <p:notesMasterIdLst>
    <p:notesMasterId xmlns:r="http://schemas.openxmlformats.org/officeDocument/2006/relationships" r:id="Red100c7073864770"/>
  </p:notesMasterIdLst>
  <p:sldIdLst>
    <p:sldId xmlns:r="http://schemas.openxmlformats.org/officeDocument/2006/relationships" id="256" r:id="Rb219d9a52fe945eb"/>
    <p:sldId xmlns:r="http://schemas.openxmlformats.org/officeDocument/2006/relationships" id="257" r:id="R023d3d37a7f14aa1"/>
    <p:sldId xmlns:r="http://schemas.openxmlformats.org/officeDocument/2006/relationships" id="258" r:id="Rc27596bc00374c68"/>
    <p:sldId xmlns:r="http://schemas.openxmlformats.org/officeDocument/2006/relationships" id="259" r:id="R66832cd79f934218"/>
    <p:sldId xmlns:r="http://schemas.openxmlformats.org/officeDocument/2006/relationships" id="260" r:id="R28ffaf215ef44996"/>
    <p:sldId xmlns:r="http://schemas.openxmlformats.org/officeDocument/2006/relationships" id="261" r:id="R018fcf9221b44c7a"/>
    <p:sldId xmlns:r="http://schemas.openxmlformats.org/officeDocument/2006/relationships" id="262" r:id="Re38ba73ad5294f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e4c07b767c4131" /><Relationship Type="http://schemas.openxmlformats.org/officeDocument/2006/relationships/slideMaster" Target="/ppt/slideMasters/slideMaster1.xml" Id="Rd5d5b468c0fb4bc5" /><Relationship Type="http://schemas.openxmlformats.org/officeDocument/2006/relationships/notesMaster" Target="/ppt/notesMasters/notesMaster1.xml" Id="Red100c7073864770" /><Relationship Type="http://schemas.openxmlformats.org/officeDocument/2006/relationships/presProps" Target="/ppt/presProps.xml" Id="Rd9da7059227f41ff" /><Relationship Type="http://schemas.openxmlformats.org/officeDocument/2006/relationships/tableStyles" Target="/ppt/tableStyles.xml" Id="Rc74a048c0ae9409c" /><Relationship Type="http://schemas.openxmlformats.org/officeDocument/2006/relationships/slide" Target="/ppt/slides/slide1.xml" Id="Rb219d9a52fe945eb" /><Relationship Type="http://schemas.openxmlformats.org/officeDocument/2006/relationships/slide" Target="/ppt/slides/slide2.xml" Id="R023d3d37a7f14aa1" /><Relationship Type="http://schemas.openxmlformats.org/officeDocument/2006/relationships/slide" Target="/ppt/slides/slide3.xml" Id="Rc27596bc00374c68" /><Relationship Type="http://schemas.openxmlformats.org/officeDocument/2006/relationships/slide" Target="/ppt/slides/slide4.xml" Id="R66832cd79f934218" /><Relationship Type="http://schemas.openxmlformats.org/officeDocument/2006/relationships/slide" Target="/ppt/slides/slide5.xml" Id="R28ffaf215ef44996" /><Relationship Type="http://schemas.openxmlformats.org/officeDocument/2006/relationships/slide" Target="/ppt/slides/slide6.xml" Id="R018fcf9221b44c7a" /><Relationship Type="http://schemas.openxmlformats.org/officeDocument/2006/relationships/slide" Target="/ppt/slides/slide7.xml" Id="Re38ba73ad5294f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9dd8f84f464f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94ff21c42f4206" /><Relationship Type="http://schemas.openxmlformats.org/officeDocument/2006/relationships/notesMaster" Target="/ppt/notesMasters/notesMaster1.xml" Id="Rafb2c1310bb14a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2d41b50feb4684" /><Relationship Type="http://schemas.openxmlformats.org/officeDocument/2006/relationships/notesMaster" Target="/ppt/notesMasters/notesMaster1.xml" Id="R03e0fe8132ce43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abc54b016941f5" /><Relationship Type="http://schemas.openxmlformats.org/officeDocument/2006/relationships/notesMaster" Target="/ppt/notesMasters/notesMaster1.xml" Id="Rbeebd9a2b1c646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bb5f90d6d04a28" /><Relationship Type="http://schemas.openxmlformats.org/officeDocument/2006/relationships/notesMaster" Target="/ppt/notesMasters/notesMaster1.xml" Id="Rb6630163a9bf46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0627f241c544a5" /><Relationship Type="http://schemas.openxmlformats.org/officeDocument/2006/relationships/notesMaster" Target="/ppt/notesMasters/notesMaster1.xml" Id="R40798ba68bb345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0c4595837d442c" /><Relationship Type="http://schemas.openxmlformats.org/officeDocument/2006/relationships/notesMaster" Target="/ppt/notesMasters/notesMaster1.xml" Id="R0d617ec7911d4a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b8d8bc9502441d" /><Relationship Type="http://schemas.openxmlformats.org/officeDocument/2006/relationships/notesMaster" Target="/ppt/notesMasters/notesMaster1.xml" Id="R1c195ea839f647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플레이어는 조작기로 terrain을 탐색하고 인물과 대화합니다. 선택을 통해 능력치를 관리하고, 상황에 맞는 퀘스트와 미니게임을 수행합니다. 여기서 얻은 보상과 해금 상태를 쌓아 각 챕터의 전투를 준비합니다. 저는 이 흐름에서 이야기 변화, 환경 구성과 미니게임 결과의 연결을 구현합니다.</a:t>
            </a:r>
          </a:p>
          <a:p xmlns:a="http://schemas.openxmlformats.org/drawingml/2006/main">
            <a:r>
              <a:t>이미지: OpenAI ImageGen으로 제작한 프로젝트 설명용 개념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Reigns는 미리 작성된 카드에서 좌우 선택을 하고 네 지표의 균형을 관리합니다. 저희 게임은 이 선택 구조에 이전 플레이 기록을 반영하는 로컬 한국어 LLM과 실제 terrain·퀘스트·미니게임 연결을 추가합니다. 현재 코드는 입력 형식이 정규식에 의존하고 한국어 이름 보호와 의미 검사가 부족합니다. 따라서 버전이 있는 JSON에 변경 금지 인물과 장소를 명시하고, 이전과 다음 대사를 함께 제공하겠습니다. 같은 입력에서 후보 세 개를 만든 뒤 규칙, 의미, 루트 검사를 통과한 결과만 사용하고 모두 실패하면 원문으로 복구하겠습니다. 이 구조를 먼저 안정화한 뒤 Kanana 1.3B와 3B를 같은 평가셋으로 비교하겠습니다.</a:t>
            </a:r>
          </a:p>
          <a:p xmlns:a="http://schemas.openxmlformats.org/drawingml/2006/main">
            <a:r>
              <a:t>Reigns 공식 설명: https://www.devolverdigital.com/games/reigns</a:t>
            </a:r>
          </a:p>
          <a:p xmlns:a="http://schemas.openxmlformats.org/drawingml/2006/main">
            <a:r>
              <a:t>Kanana-2-3B 공식 모델: https://huggingface.co/kakaocorp/kanana-2-3b-instruct</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 업무도 개선 구조에 맞춰 네 단계로 정리했습니다. 먼저 JSON 입력 형식과 변경 금지 항목을 정의합니다. 다음으로 Kanana 1.3B와 3B를 같은 데이터로 비교하고, 규칙·의미·루트 검증과 원문 복구를 구현합니다. 마지막으로 검증된 결과만 terrain과 대화, 미니게임에 반영하겠습니다.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다섯 단계입니다. 플레이 상태를 수집하고 Pydantic과 JSON Schema로 입력을 먼저 검사합니다. 이전과 다음 대사를 포함해 후보 세 개를 생성한 뒤, 규칙·의미·루트 검사를 통과한 결과만 선택합니다. 검증된 결과는 Unity의 대화와 terrain, 미니게임에 반영합니다. 좋은 결과와 실패 이유는 함께 저장하여 이후 LoRA 파인튜닝 데이터로 사용하겠습니다.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검증은 네 부분으로 진행합니다. 먼저 JSON 형식과 한국어 인물·장소 보존을 확인합니다. 다음으로 앞뒤 문맥, 핵심 사건과 현재 루트를 유지하는지 검사합니다. 같은 평가 데이터로 1.3B와 3B의 자연스러움, 반복 표현과 원문 복구율을 비교하고, 로딩 시간과 GPU 메모리도 측정합니다. 현재 재시도와 원문 복구가 구현되어 있으므로 입력 표준화와 후보 평가를 먼저 추가한 뒤, 승인 데이터가 충분히 쌓였을 때 파인튜닝하겠습니다.</a:t>
            </a:r>
          </a:p>
          <a:p xmlns:a="http://schemas.openxmlformats.org/drawingml/2006/main">
            <a:r>
              <a:t>Kanana-2-3B 공식 모델: https://huggingface.co/kakaocorp/kanana-2-3b-instruct</a:t>
            </a:r>
          </a:p>
          <a:p xmlns:a="http://schemas.openxmlformats.org/drawingml/2006/main">
            <a:r>
              <a:t>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b2ce81ca7e41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130f7dba64493b" /><Relationship Type="http://schemas.openxmlformats.org/officeDocument/2006/relationships/slideLayout" Target="/ppt/slideLayouts/slideLayout1.xml" Id="Re83eca2c3d364a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3eca2c3d364a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7eb53d6b804afd" /><Relationship Type="http://schemas.openxmlformats.org/officeDocument/2006/relationships/notesSlide" Target="/ppt/notesSlides/notesSlide1.xml" Id="R7b05713769c740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7aed67ba13484d" /><Relationship Type="http://schemas.openxmlformats.org/officeDocument/2006/relationships/image" Target="/ppt/media/image.png" Id="Ree0fdb4ea1a54dcd" /><Relationship Type="http://schemas.openxmlformats.org/officeDocument/2006/relationships/notesSlide" Target="/ppt/notesSlides/notesSlide2.xml" Id="R494a4b7bc3104e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c3d1b1f6b14d6c" /><Relationship Type="http://schemas.openxmlformats.org/officeDocument/2006/relationships/notesSlide" Target="/ppt/notesSlides/notesSlide3.xml" Id="Rd9eaa611850d40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ca8b4083ff4ee5" /><Relationship Type="http://schemas.openxmlformats.org/officeDocument/2006/relationships/notesSlide" Target="/ppt/notesSlides/notesSlide4.xml" Id="Rea5eb924ebd34d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7c40dd03f14df5" /><Relationship Type="http://schemas.openxmlformats.org/officeDocument/2006/relationships/notesSlide" Target="/ppt/notesSlides/notesSlide5.xml" Id="R4efb57cdff214a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c1859b39a4450a" /><Relationship Type="http://schemas.openxmlformats.org/officeDocument/2006/relationships/notesSlide" Target="/ppt/notesSlides/notesSlide6.xml" Id="R05394195898b46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445915e6054908" /><Relationship Type="http://schemas.openxmlformats.org/officeDocument/2006/relationships/notesSlide" Target="/ppt/notesSlides/notesSlide7.xml" Id="R42c9bfd574184c57"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F77AB2-A8F6-4B85-9CC9-43034BF564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CA774D-F60A-4B40-B877-281951CE9A1D}"/>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55D10A95-A4DF-4C53-9E23-E7C1A25DFB7E}"/>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EE582986-4415-404A-819D-5C4CCEB2B504}"/>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13361EFC-FF6C-4D02-8696-89F81BADD3BE}"/>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6FB216-D4A7-41AE-B471-B0BD75EA8322}"/>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0C7C84A3-9717-4177-9F1C-58D0B31EF0E9}"/>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3AB3340F-89E4-47F4-B05B-0ED7B50D78B8}"/>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6DE017AC-612D-4B1E-A801-9C6BE8E3267D}"/>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162363328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9262A8-2457-413A-9C35-4A594063852E}"/>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41D2238F-CCCA-489D-9A45-44F564CD8AA6}"/>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DA0DBBBF-E4CE-439D-9374-22B4441A242C}"/>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e0fdb4ea1a54dcd"/>
          <a:srcRect xmlns:a="http://schemas.openxmlformats.org/drawingml/2006/main" l="0" t="16839" r="0" b="16839"/>
          <a:stretch xmlns:a="http://schemas.openxmlformats.org/drawingml/2006/main">
            <a:fillRect l="0" t="0" r="0" b="0"/>
          </a:stretch>
        </p:blipFill>
        <p:spPr>
          <a:xfrm xmlns:a="http://schemas.openxmlformats.org/drawingml/2006/main">
            <a:off x="609600" y="1238250"/>
            <a:ext cx="10972800" cy="4095750"/>
          </a:xfrm>
          <a:prstGeom xmlns:a="http://schemas.openxmlformats.org/drawingml/2006/main" prst="roundRect">
            <a:avLst>
              <a:gd name="adj" fmla="val 4186"/>
            </a:avLst>
          </a:prstGeom>
        </p:spPr>
      </p:pic>
      <p:sp>
        <p:nvSpPr>
          <p:cNvPr id="5" name="">
            <a:extLst xmlns:a="http://schemas.openxmlformats.org/drawingml/2006/main">
              <a:ext uri="{FF2B5EF4-FFF2-40B4-BE49-F238E27FC236}">
                <a16:creationId xmlns:a16="http://schemas.microsoft.com/office/drawing/2014/main" id="{11D27292-DD38-4A31-AD09-AFA837A7260C}"/>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5E8A186-2366-44DF-85B8-AF3E206E7702}"/>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6C9E7AC5-9377-4C80-8FCA-BDF95DFF2E33}"/>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8" name="">
            <a:extLst xmlns:a="http://schemas.openxmlformats.org/drawingml/2006/main">
              <a:ext uri="{FF2B5EF4-FFF2-40B4-BE49-F238E27FC236}">
                <a16:creationId xmlns:a16="http://schemas.microsoft.com/office/drawing/2014/main" id="{D8020E81-2F96-49E9-A9A9-F309ADE17188}"/>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9" name="">
            <a:extLst xmlns:a="http://schemas.openxmlformats.org/drawingml/2006/main">
              <a:ext uri="{FF2B5EF4-FFF2-40B4-BE49-F238E27FC236}">
                <a16:creationId xmlns:a16="http://schemas.microsoft.com/office/drawing/2014/main" id="{1382570B-414C-4EF1-855E-4ACB120785F4}"/>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0" name="">
            <a:extLst xmlns:a="http://schemas.openxmlformats.org/drawingml/2006/main">
              <a:ext uri="{FF2B5EF4-FFF2-40B4-BE49-F238E27FC236}">
                <a16:creationId xmlns:a16="http://schemas.microsoft.com/office/drawing/2014/main" id="{91C77B16-4C24-4408-9D62-75B3DD768D49}"/>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11" name="">
            <a:extLst xmlns:a="http://schemas.openxmlformats.org/drawingml/2006/main">
              <a:ext uri="{FF2B5EF4-FFF2-40B4-BE49-F238E27FC236}">
                <a16:creationId xmlns:a16="http://schemas.microsoft.com/office/drawing/2014/main" id="{8A88AF16-66DC-4075-B065-178D957F5AC8}"/>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12" name="">
            <a:extLst xmlns:a="http://schemas.openxmlformats.org/drawingml/2006/main">
              <a:ext uri="{FF2B5EF4-FFF2-40B4-BE49-F238E27FC236}">
                <a16:creationId xmlns:a16="http://schemas.microsoft.com/office/drawing/2014/main" id="{DBD8C997-8870-4723-903B-0369172D0875}"/>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13" name="">
            <a:extLst xmlns:a="http://schemas.openxmlformats.org/drawingml/2006/main">
              <a:ext uri="{FF2B5EF4-FFF2-40B4-BE49-F238E27FC236}">
                <a16:creationId xmlns:a16="http://schemas.microsoft.com/office/drawing/2014/main" id="{01BAB83A-040B-4EB7-9634-00A7CDB20D3C}"/>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14" name="">
            <a:extLst xmlns:a="http://schemas.openxmlformats.org/drawingml/2006/main">
              <a:ext uri="{FF2B5EF4-FFF2-40B4-BE49-F238E27FC236}">
                <a16:creationId xmlns:a16="http://schemas.microsoft.com/office/drawing/2014/main" id="{6120BE73-91AA-4D8D-82E9-AD430CA5961B}"/>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15" name="">
            <a:extLst xmlns:a="http://schemas.openxmlformats.org/drawingml/2006/main">
              <a:ext uri="{FF2B5EF4-FFF2-40B4-BE49-F238E27FC236}">
                <a16:creationId xmlns:a16="http://schemas.microsoft.com/office/drawing/2014/main" id="{C637D942-35B6-4CC9-9FB4-0945E3C10220}"/>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
        <p:nvSpPr>
          <p:cNvPr id="16" name="">
            <a:extLst xmlns:a="http://schemas.openxmlformats.org/drawingml/2006/main">
              <a:ext uri="{FF2B5EF4-FFF2-40B4-BE49-F238E27FC236}">
                <a16:creationId xmlns:a16="http://schemas.microsoft.com/office/drawing/2014/main" id="{9B72B4F3-CD89-457C-8E5B-06D5074E0B3B}"/>
              </a:ext>
            </a:extLst>
          </p:cNvPr>
          <p:cNvSpPr>
            <a:spLocks xmlns:a="http://schemas.openxmlformats.org/drawingml/2006/main" noGrp="1"/>
          </p:cNvSpPr>
          <p:nvPr/>
        </p:nvSpPr>
        <p:spPr>
          <a:xfrm xmlns:a="http://schemas.openxmlformats.org/drawingml/2006/main">
            <a:off x="685800" y="63246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담당: 이야기 변화, terrain 구성, 미니게임과 진행 데이터 연결</a:t>
            </a:r>
          </a:p>
        </p:txBody>
      </p:sp>
    </p:spTree>
    <p:extLst>
      <p:ext uri="{BB962C8B-B14F-4D97-AF65-F5344CB8AC3E}">
        <p14:creationId xmlns:p14="http://schemas.microsoft.com/office/powerpoint/2010/main" val="2124373728"/>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051E16C-A4B9-459E-B43B-C50E238C47E5}"/>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LLM 개선</a:t>
            </a:r>
          </a:p>
        </p:txBody>
      </p:sp>
      <p:sp>
        <p:nvSpPr>
          <p:cNvPr id="2" name="">
            <a:extLst xmlns:a="http://schemas.openxmlformats.org/drawingml/2006/main">
              <a:ext uri="{FF2B5EF4-FFF2-40B4-BE49-F238E27FC236}">
                <a16:creationId xmlns:a16="http://schemas.microsoft.com/office/drawing/2014/main" id="{BA2FF67A-C1D1-4371-BA3E-6898B5A037AE}"/>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1231BAF6-C1AB-4F09-975C-B586E43C5F5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F114F9-A6AC-4FAA-8D70-DFC1606BBE67}"/>
              </a:ext>
            </a:extLst>
          </p:cNvPr>
          <p:cNvSpPr>
            <a:spLocks xmlns:a="http://schemas.openxmlformats.org/drawingml/2006/main" noGrp="1"/>
          </p:cNvSpPr>
          <p:nvPr/>
        </p:nvSpPr>
        <p:spPr>
          <a:xfrm xmlns:a="http://schemas.openxmlformats.org/drawingml/2006/main">
            <a:off x="723900" y="1314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Reigns</a:t>
            </a:r>
          </a:p>
        </p:txBody>
      </p:sp>
      <p:sp>
        <p:nvSpPr>
          <p:cNvPr id="5" name="">
            <a:extLst xmlns:a="http://schemas.openxmlformats.org/drawingml/2006/main">
              <a:ext uri="{FF2B5EF4-FFF2-40B4-BE49-F238E27FC236}">
                <a16:creationId xmlns:a16="http://schemas.microsoft.com/office/drawing/2014/main" id="{8B62533F-7B9B-4135-A2F3-7E948FB667AD}"/>
              </a:ext>
            </a:extLst>
          </p:cNvPr>
          <p:cNvSpPr>
            <a:spLocks xmlns:a="http://schemas.openxmlformats.org/drawingml/2006/main" noGrp="1"/>
          </p:cNvSpPr>
          <p:nvPr/>
        </p:nvSpPr>
        <p:spPr>
          <a:xfrm xmlns:a="http://schemas.openxmlformats.org/drawingml/2006/main">
            <a:off x="723900" y="1790700"/>
            <a:ext cx="4000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정해진 카드에서 좌우 선택</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네 지표의 균형을 유지</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목표 달성으로 카드 해금</a:t>
            </a:r>
          </a:p>
        </p:txBody>
      </p:sp>
      <p:sp>
        <p:nvSpPr>
          <p:cNvPr id="6" name="">
            <a:extLst xmlns:a="http://schemas.openxmlformats.org/drawingml/2006/main">
              <a:ext uri="{FF2B5EF4-FFF2-40B4-BE49-F238E27FC236}">
                <a16:creationId xmlns:a16="http://schemas.microsoft.com/office/drawing/2014/main" id="{91975F2E-0981-4BEE-929A-222BB79A9DE0}"/>
              </a:ext>
            </a:extLst>
          </p:cNvPr>
          <p:cNvSpPr>
            <a:spLocks xmlns:a="http://schemas.openxmlformats.org/drawingml/2006/main" noGrp="1"/>
          </p:cNvSpPr>
          <p:nvPr/>
        </p:nvSpPr>
        <p:spPr>
          <a:xfrm xmlns:a="http://schemas.openxmlformats.org/drawingml/2006/main">
            <a:off x="4933950" y="1390650"/>
            <a:ext cx="19050" cy="17335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81382F-A9F4-497B-BF64-FCBAF9915A27}"/>
              </a:ext>
            </a:extLst>
          </p:cNvPr>
          <p:cNvSpPr>
            <a:spLocks xmlns:a="http://schemas.openxmlformats.org/drawingml/2006/main" noGrp="1"/>
          </p:cNvSpPr>
          <p:nvPr/>
        </p:nvSpPr>
        <p:spPr>
          <a:xfrm xmlns:a="http://schemas.openxmlformats.org/drawingml/2006/main">
            <a:off x="5391150" y="13144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본 프로젝트</a:t>
            </a:r>
          </a:p>
        </p:txBody>
      </p:sp>
      <p:sp>
        <p:nvSpPr>
          <p:cNvPr id="8" name="">
            <a:extLst xmlns:a="http://schemas.openxmlformats.org/drawingml/2006/main">
              <a:ext uri="{FF2B5EF4-FFF2-40B4-BE49-F238E27FC236}">
                <a16:creationId xmlns:a16="http://schemas.microsoft.com/office/drawing/2014/main" id="{D3F7A1A4-6E5A-4FA8-810A-2D864FBD115B}"/>
              </a:ext>
            </a:extLst>
          </p:cNvPr>
          <p:cNvSpPr>
            <a:spLocks xmlns:a="http://schemas.openxmlformats.org/drawingml/2006/main" noGrp="1"/>
          </p:cNvSpPr>
          <p:nvPr/>
        </p:nvSpPr>
        <p:spPr>
          <a:xfrm xmlns:a="http://schemas.openxmlformats.org/drawingml/2006/main">
            <a:off x="5391150" y="1790700"/>
            <a:ext cx="6038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이전 플레이 기록으로 허용 문장 변화</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한국어 LLM을 게임 내부에서 실행</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결과를 terrain·퀘스트·미니게임과 연결</a:t>
            </a:r>
          </a:p>
        </p:txBody>
      </p:sp>
      <p:sp>
        <p:nvSpPr>
          <p:cNvPr id="9" name="">
            <a:extLst xmlns:a="http://schemas.openxmlformats.org/drawingml/2006/main">
              <a:ext uri="{FF2B5EF4-FFF2-40B4-BE49-F238E27FC236}">
                <a16:creationId xmlns:a16="http://schemas.microsoft.com/office/drawing/2014/main" id="{3AD97844-8B91-48C3-A4C2-915FBECB4006}"/>
              </a:ext>
            </a:extLst>
          </p:cNvPr>
          <p:cNvSpPr>
            <a:spLocks xmlns:a="http://schemas.openxmlformats.org/drawingml/2006/main" noGrp="1"/>
          </p:cNvSpPr>
          <p:nvPr/>
        </p:nvSpPr>
        <p:spPr>
          <a:xfrm xmlns:a="http://schemas.openxmlformats.org/drawingml/2006/main">
            <a:off x="723900" y="3352800"/>
            <a:ext cx="4000500" cy="2324100"/>
          </a:xfrm>
          <a:prstGeom xmlns:a="http://schemas.openxmlformats.org/drawingml/2006/main" prst="roundRect">
            <a:avLst>
              <a:gd name="adj" fmla="val 6557"/>
            </a:avLst>
          </a:prstGeom>
          <a:solidFill xmlns:a="http://schemas.openxmlformats.org/drawingml/2006/main">
            <a:srgbClr val="F6E6DA"/>
          </a:solidFill>
          <a:ln xmlns:a="http://schemas.openxmlformats.org/drawingml/2006/main" w="9525">
            <a:solidFill>
              <a:srgbClr val="D9854F"/>
            </a:solidFill>
            <a:prstDash val="solid"/>
          </a:ln>
        </p:spPr>
      </p:sp>
      <p:sp>
        <p:nvSpPr>
          <p:cNvPr id="10" name="">
            <a:extLst xmlns:a="http://schemas.openxmlformats.org/drawingml/2006/main">
              <a:ext uri="{FF2B5EF4-FFF2-40B4-BE49-F238E27FC236}">
                <a16:creationId xmlns:a16="http://schemas.microsoft.com/office/drawing/2014/main" id="{213219D2-288F-431B-A22C-E0A1BE3731AE}"/>
              </a:ext>
            </a:extLst>
          </p:cNvPr>
          <p:cNvSpPr>
            <a:spLocks xmlns:a="http://schemas.openxmlformats.org/drawingml/2006/main" noGrp="1"/>
          </p:cNvSpPr>
          <p:nvPr/>
        </p:nvSpPr>
        <p:spPr>
          <a:xfrm xmlns:a="http://schemas.openxmlformats.org/drawingml/2006/main">
            <a:off x="971550" y="3638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부족한 점</a:t>
            </a:r>
          </a:p>
        </p:txBody>
      </p:sp>
      <p:sp>
        <p:nvSpPr>
          <p:cNvPr id="11" name="">
            <a:extLst xmlns:a="http://schemas.openxmlformats.org/drawingml/2006/main">
              <a:ext uri="{FF2B5EF4-FFF2-40B4-BE49-F238E27FC236}">
                <a16:creationId xmlns:a16="http://schemas.microsoft.com/office/drawing/2014/main" id="{363085DB-5396-4C22-BA7B-88EC1C64DE4C}"/>
              </a:ext>
            </a:extLst>
          </p:cNvPr>
          <p:cNvSpPr>
            <a:spLocks xmlns:a="http://schemas.openxmlformats.org/drawingml/2006/main" noGrp="1"/>
          </p:cNvSpPr>
          <p:nvPr/>
        </p:nvSpPr>
        <p:spPr>
          <a:xfrm xmlns:a="http://schemas.openxmlformats.org/drawingml/2006/main">
            <a:off x="971550" y="4076700"/>
            <a:ext cx="3429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입력 형식이 정규식에 의존</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한국어 인물·장소 보호가 부족</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문자열 유사도만으로 의미를 판단</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한 번 생성한 결과에 의존</a:t>
            </a:r>
          </a:p>
        </p:txBody>
      </p:sp>
      <p:sp>
        <p:nvSpPr>
          <p:cNvPr id="12" name="">
            <a:extLst xmlns:a="http://schemas.openxmlformats.org/drawingml/2006/main">
              <a:ext uri="{FF2B5EF4-FFF2-40B4-BE49-F238E27FC236}">
                <a16:creationId xmlns:a16="http://schemas.microsoft.com/office/drawing/2014/main" id="{E98519B5-C07A-4486-BD29-0B7F04104214}"/>
              </a:ext>
            </a:extLst>
          </p:cNvPr>
          <p:cNvSpPr>
            <a:spLocks xmlns:a="http://schemas.openxmlformats.org/drawingml/2006/main" noGrp="1"/>
          </p:cNvSpPr>
          <p:nvPr/>
        </p:nvSpPr>
        <p:spPr>
          <a:xfrm xmlns:a="http://schemas.openxmlformats.org/drawingml/2006/main">
            <a:off x="5334000" y="3390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개선 구조</a:t>
            </a:r>
          </a:p>
        </p:txBody>
      </p:sp>
      <p:sp>
        <p:nvSpPr>
          <p:cNvPr id="13" name="">
            <a:extLst xmlns:a="http://schemas.openxmlformats.org/drawingml/2006/main">
              <a:ext uri="{FF2B5EF4-FFF2-40B4-BE49-F238E27FC236}">
                <a16:creationId xmlns:a16="http://schemas.microsoft.com/office/drawing/2014/main" id="{27A126D9-4E60-4E37-B141-E396524C5310}"/>
              </a:ext>
            </a:extLst>
          </p:cNvPr>
          <p:cNvSpPr>
            <a:spLocks xmlns:a="http://schemas.openxmlformats.org/drawingml/2006/main" noGrp="1"/>
          </p:cNvSpPr>
          <p:nvPr/>
        </p:nvSpPr>
        <p:spPr>
          <a:xfrm xmlns:a="http://schemas.openxmlformats.org/drawingml/2006/main">
            <a:off x="5334000" y="39052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1</a:t>
            </a:r>
          </a:p>
        </p:txBody>
      </p:sp>
      <p:sp>
        <p:nvSpPr>
          <p:cNvPr id="14" name="">
            <a:extLst xmlns:a="http://schemas.openxmlformats.org/drawingml/2006/main">
              <a:ext uri="{FF2B5EF4-FFF2-40B4-BE49-F238E27FC236}">
                <a16:creationId xmlns:a16="http://schemas.microsoft.com/office/drawing/2014/main" id="{24B6A3F1-0F37-4C71-AEDF-EC9171EE78C6}"/>
              </a:ext>
            </a:extLst>
          </p:cNvPr>
          <p:cNvSpPr>
            <a:spLocks xmlns:a="http://schemas.openxmlformats.org/drawingml/2006/main" noGrp="1"/>
          </p:cNvSpPr>
          <p:nvPr/>
        </p:nvSpPr>
        <p:spPr>
          <a:xfrm xmlns:a="http://schemas.openxmlformats.org/drawingml/2006/main">
            <a:off x="5810250" y="38862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버전이 있는 JSON과 변경 금지 목록 사용</a:t>
            </a:r>
          </a:p>
        </p:txBody>
      </p:sp>
      <p:sp>
        <p:nvSpPr>
          <p:cNvPr id="15" name="">
            <a:extLst xmlns:a="http://schemas.openxmlformats.org/drawingml/2006/main">
              <a:ext uri="{FF2B5EF4-FFF2-40B4-BE49-F238E27FC236}">
                <a16:creationId xmlns:a16="http://schemas.microsoft.com/office/drawing/2014/main" id="{6D02CBE4-D207-4757-B1DA-755942CE3BD6}"/>
              </a:ext>
            </a:extLst>
          </p:cNvPr>
          <p:cNvSpPr>
            <a:spLocks xmlns:a="http://schemas.openxmlformats.org/drawingml/2006/main" noGrp="1"/>
          </p:cNvSpPr>
          <p:nvPr/>
        </p:nvSpPr>
        <p:spPr>
          <a:xfrm xmlns:a="http://schemas.openxmlformats.org/drawingml/2006/main">
            <a:off x="5334000" y="43624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2</a:t>
            </a:r>
          </a:p>
        </p:txBody>
      </p:sp>
      <p:sp>
        <p:nvSpPr>
          <p:cNvPr id="16" name="">
            <a:extLst xmlns:a="http://schemas.openxmlformats.org/drawingml/2006/main">
              <a:ext uri="{FF2B5EF4-FFF2-40B4-BE49-F238E27FC236}">
                <a16:creationId xmlns:a16="http://schemas.microsoft.com/office/drawing/2014/main" id="{D7961FEB-9367-405B-A05A-3FC60CD8AB2A}"/>
              </a:ext>
            </a:extLst>
          </p:cNvPr>
          <p:cNvSpPr>
            <a:spLocks xmlns:a="http://schemas.openxmlformats.org/drawingml/2006/main" noGrp="1"/>
          </p:cNvSpPr>
          <p:nvPr/>
        </p:nvSpPr>
        <p:spPr>
          <a:xfrm xmlns:a="http://schemas.openxmlformats.org/drawingml/2006/main">
            <a:off x="5810250" y="43434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이전·다음 대사를 함께 제공해 문맥 유지</a:t>
            </a:r>
          </a:p>
        </p:txBody>
      </p:sp>
      <p:sp>
        <p:nvSpPr>
          <p:cNvPr id="17" name="">
            <a:extLst xmlns:a="http://schemas.openxmlformats.org/drawingml/2006/main">
              <a:ext uri="{FF2B5EF4-FFF2-40B4-BE49-F238E27FC236}">
                <a16:creationId xmlns:a16="http://schemas.microsoft.com/office/drawing/2014/main" id="{E38DE7ED-61FA-46AB-9E1F-3603F9E6F740}"/>
              </a:ext>
            </a:extLst>
          </p:cNvPr>
          <p:cNvSpPr>
            <a:spLocks xmlns:a="http://schemas.openxmlformats.org/drawingml/2006/main" noGrp="1"/>
          </p:cNvSpPr>
          <p:nvPr/>
        </p:nvSpPr>
        <p:spPr>
          <a:xfrm xmlns:a="http://schemas.openxmlformats.org/drawingml/2006/main">
            <a:off x="5334000" y="48196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3</a:t>
            </a:r>
          </a:p>
        </p:txBody>
      </p:sp>
      <p:sp>
        <p:nvSpPr>
          <p:cNvPr id="18" name="">
            <a:extLst xmlns:a="http://schemas.openxmlformats.org/drawingml/2006/main">
              <a:ext uri="{FF2B5EF4-FFF2-40B4-BE49-F238E27FC236}">
                <a16:creationId xmlns:a16="http://schemas.microsoft.com/office/drawing/2014/main" id="{0C7C7741-2C5C-4E6D-9E8C-46B122BA6602}"/>
              </a:ext>
            </a:extLst>
          </p:cNvPr>
          <p:cNvSpPr>
            <a:spLocks xmlns:a="http://schemas.openxmlformats.org/drawingml/2006/main" noGrp="1"/>
          </p:cNvSpPr>
          <p:nvPr/>
        </p:nvSpPr>
        <p:spPr>
          <a:xfrm xmlns:a="http://schemas.openxmlformats.org/drawingml/2006/main">
            <a:off x="5810250" y="48006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후보 3개를 생성하고 가장 안전한 결과 선택</a:t>
            </a:r>
          </a:p>
        </p:txBody>
      </p:sp>
      <p:sp>
        <p:nvSpPr>
          <p:cNvPr id="19" name="">
            <a:extLst xmlns:a="http://schemas.openxmlformats.org/drawingml/2006/main">
              <a:ext uri="{FF2B5EF4-FFF2-40B4-BE49-F238E27FC236}">
                <a16:creationId xmlns:a16="http://schemas.microsoft.com/office/drawing/2014/main" id="{25E0B66A-4AFE-469F-832A-359A1D42C3EA}"/>
              </a:ext>
            </a:extLst>
          </p:cNvPr>
          <p:cNvSpPr>
            <a:spLocks xmlns:a="http://schemas.openxmlformats.org/drawingml/2006/main" noGrp="1"/>
          </p:cNvSpPr>
          <p:nvPr/>
        </p:nvSpPr>
        <p:spPr>
          <a:xfrm xmlns:a="http://schemas.openxmlformats.org/drawingml/2006/main">
            <a:off x="5334000" y="52768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4</a:t>
            </a:r>
          </a:p>
        </p:txBody>
      </p:sp>
      <p:sp>
        <p:nvSpPr>
          <p:cNvPr id="20" name="">
            <a:extLst xmlns:a="http://schemas.openxmlformats.org/drawingml/2006/main">
              <a:ext uri="{FF2B5EF4-FFF2-40B4-BE49-F238E27FC236}">
                <a16:creationId xmlns:a16="http://schemas.microsoft.com/office/drawing/2014/main" id="{E755CE13-178C-414E-8532-87CE5CAEA4BF}"/>
              </a:ext>
            </a:extLst>
          </p:cNvPr>
          <p:cNvSpPr>
            <a:spLocks xmlns:a="http://schemas.openxmlformats.org/drawingml/2006/main" noGrp="1"/>
          </p:cNvSpPr>
          <p:nvPr/>
        </p:nvSpPr>
        <p:spPr>
          <a:xfrm xmlns:a="http://schemas.openxmlformats.org/drawingml/2006/main">
            <a:off x="5810250" y="52578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규칙·의미·루트 검사 후 실패 시 원문 복구</a:t>
            </a:r>
          </a:p>
        </p:txBody>
      </p:sp>
      <p:sp>
        <p:nvSpPr>
          <p:cNvPr id="21" name="">
            <a:extLst xmlns:a="http://schemas.openxmlformats.org/drawingml/2006/main">
              <a:ext uri="{FF2B5EF4-FFF2-40B4-BE49-F238E27FC236}">
                <a16:creationId xmlns:a16="http://schemas.microsoft.com/office/drawing/2014/main" id="{FF7DEEB0-A8A4-4FA1-993C-CF9CAE3CB578}"/>
              </a:ext>
            </a:extLst>
          </p:cNvPr>
          <p:cNvSpPr>
            <a:spLocks xmlns:a="http://schemas.openxmlformats.org/drawingml/2006/main" noGrp="1"/>
          </p:cNvSpPr>
          <p:nvPr/>
        </p:nvSpPr>
        <p:spPr>
          <a:xfrm xmlns:a="http://schemas.openxmlformats.org/drawingml/2006/main">
            <a:off x="723900" y="600075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입력과 검증 구조를 먼저 안정화한 뒤 Kanana 1.3B와 3B를 같은 평가셋으로 비교합니다.</a:t>
            </a:r>
          </a:p>
        </p:txBody>
      </p:sp>
    </p:spTree>
    <p:extLst>
      <p:ext uri="{BB962C8B-B14F-4D97-AF65-F5344CB8AC3E}">
        <p14:creationId xmlns:p14="http://schemas.microsoft.com/office/powerpoint/2010/main" val="1428940950"/>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90BEF72-46F9-48D1-ACD1-58607A5058DB}"/>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담당 기능</a:t>
            </a:r>
          </a:p>
        </p:txBody>
      </p:sp>
      <p:sp>
        <p:nvSpPr>
          <p:cNvPr id="2" name="">
            <a:extLst xmlns:a="http://schemas.openxmlformats.org/drawingml/2006/main">
              <a:ext uri="{FF2B5EF4-FFF2-40B4-BE49-F238E27FC236}">
                <a16:creationId xmlns:a16="http://schemas.microsoft.com/office/drawing/2014/main" id="{35EF09CE-F8E1-41F9-85A3-017C3463132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0E639744-40B0-4ADF-9500-BEA1DAC54FC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BD4CD9-C01D-4650-BB3D-9AB7DC89C314}"/>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6946E0E2-DCE5-4F0D-860A-13FFE3C0AD6C}"/>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입력 표준화</a:t>
            </a:r>
          </a:p>
        </p:txBody>
      </p:sp>
      <p:sp>
        <p:nvSpPr>
          <p:cNvPr id="6" name="">
            <a:extLst xmlns:a="http://schemas.openxmlformats.org/drawingml/2006/main">
              <a:ext uri="{FF2B5EF4-FFF2-40B4-BE49-F238E27FC236}">
                <a16:creationId xmlns:a16="http://schemas.microsoft.com/office/drawing/2014/main" id="{0F649765-9111-496F-BE46-F23728520596}"/>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JSON 스키마와 변경 금지 항목 정의</a:t>
            </a:r>
          </a:p>
        </p:txBody>
      </p:sp>
      <p:sp>
        <p:nvSpPr>
          <p:cNvPr id="7" name="">
            <a:extLst xmlns:a="http://schemas.openxmlformats.org/drawingml/2006/main">
              <a:ext uri="{FF2B5EF4-FFF2-40B4-BE49-F238E27FC236}">
                <a16:creationId xmlns:a16="http://schemas.microsoft.com/office/drawing/2014/main" id="{071D1402-CDAB-4505-A627-1828DC9C4C71}"/>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247F8D-3581-44B2-88A0-18BB0E50AB27}"/>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4279FAA7-BD40-45A6-BA6F-0691A0BEB219}"/>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모델 비교</a:t>
            </a:r>
          </a:p>
        </p:txBody>
      </p:sp>
      <p:sp>
        <p:nvSpPr>
          <p:cNvPr id="10" name="">
            <a:extLst xmlns:a="http://schemas.openxmlformats.org/drawingml/2006/main">
              <a:ext uri="{FF2B5EF4-FFF2-40B4-BE49-F238E27FC236}">
                <a16:creationId xmlns:a16="http://schemas.microsoft.com/office/drawing/2014/main" id="{0F75014F-2C1A-47A8-9137-3AD08DBDF2CE}"/>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Kanana 1.3B·3B를 동일 조건에서 평가</a:t>
            </a:r>
          </a:p>
        </p:txBody>
      </p:sp>
      <p:sp>
        <p:nvSpPr>
          <p:cNvPr id="11" name="">
            <a:extLst xmlns:a="http://schemas.openxmlformats.org/drawingml/2006/main">
              <a:ext uri="{FF2B5EF4-FFF2-40B4-BE49-F238E27FC236}">
                <a16:creationId xmlns:a16="http://schemas.microsoft.com/office/drawing/2014/main" id="{DD006266-0387-4FBD-93AB-217B9D88F23F}"/>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74328A-1976-4246-A577-E48CBB68EE19}"/>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672C1CD1-0BEA-4FE6-B156-03630EBC9209}"/>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품질 검증</a:t>
            </a:r>
          </a:p>
        </p:txBody>
      </p:sp>
      <p:sp>
        <p:nvSpPr>
          <p:cNvPr id="14" name="">
            <a:extLst xmlns:a="http://schemas.openxmlformats.org/drawingml/2006/main">
              <a:ext uri="{FF2B5EF4-FFF2-40B4-BE49-F238E27FC236}">
                <a16:creationId xmlns:a16="http://schemas.microsoft.com/office/drawing/2014/main" id="{FE22D846-FF0F-4BBE-966D-25BC11C71FA1}"/>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규칙·의미·루트 검사와 원문 복구</a:t>
            </a:r>
          </a:p>
        </p:txBody>
      </p:sp>
      <p:sp>
        <p:nvSpPr>
          <p:cNvPr id="15" name="">
            <a:extLst xmlns:a="http://schemas.openxmlformats.org/drawingml/2006/main">
              <a:ext uri="{FF2B5EF4-FFF2-40B4-BE49-F238E27FC236}">
                <a16:creationId xmlns:a16="http://schemas.microsoft.com/office/drawing/2014/main" id="{C933E979-FABD-48EA-A058-412559594629}"/>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47306D-95C4-4CD6-A47A-E3656D79E46A}"/>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4180C2B5-4436-46A6-9EAB-BEBA8A1DA250}"/>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연동</a:t>
            </a:r>
          </a:p>
        </p:txBody>
      </p:sp>
      <p:sp>
        <p:nvSpPr>
          <p:cNvPr id="18" name="">
            <a:extLst xmlns:a="http://schemas.openxmlformats.org/drawingml/2006/main">
              <a:ext uri="{FF2B5EF4-FFF2-40B4-BE49-F238E27FC236}">
                <a16:creationId xmlns:a16="http://schemas.microsoft.com/office/drawing/2014/main" id="{D56AB4FA-4522-4764-B229-76F364AD4328}"/>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검증 결과를 terrain·대화·미니게임에 반영</a:t>
            </a:r>
          </a:p>
        </p:txBody>
      </p:sp>
      <p:sp>
        <p:nvSpPr>
          <p:cNvPr id="19" name="">
            <a:extLst xmlns:a="http://schemas.openxmlformats.org/drawingml/2006/main">
              <a:ext uri="{FF2B5EF4-FFF2-40B4-BE49-F238E27FC236}">
                <a16:creationId xmlns:a16="http://schemas.microsoft.com/office/drawing/2014/main" id="{674D52A8-669B-4E26-A5A3-46B35EC46281}"/>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모델을 바로 학습시키기보다 평가 가능한 구조와 승인 데이터를 먼저 만듭니다.</a:t>
            </a:r>
          </a:p>
        </p:txBody>
      </p:sp>
    </p:spTree>
    <p:extLst>
      <p:ext uri="{BB962C8B-B14F-4D97-AF65-F5344CB8AC3E}">
        <p14:creationId xmlns:p14="http://schemas.microsoft.com/office/powerpoint/2010/main" val="1944112303"/>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30C1309-DCC6-4B67-A743-58220A51D848}"/>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F62719FA-CEBE-4E95-B4AF-92EA43B8D848}"/>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30545150-7DCC-42E2-940E-EA506B890E42}"/>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313DBB-41C0-4FFF-BBE3-72A20B8487B3}"/>
              </a:ext>
            </a:extLst>
          </p:cNvPr>
          <p:cNvSpPr>
            <a:spLocks xmlns:a="http://schemas.openxmlformats.org/drawingml/2006/main" noGrp="1"/>
          </p:cNvSpPr>
          <p:nvPr/>
        </p:nvSpPr>
        <p:spPr>
          <a:xfrm xmlns:a="http://schemas.openxmlformats.org/drawingml/2006/main">
            <a:off x="5143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67F0BB3D-DC2E-4290-BC88-78E885897C60}"/>
              </a:ext>
            </a:extLst>
          </p:cNvPr>
          <p:cNvSpPr>
            <a:spLocks xmlns:a="http://schemas.openxmlformats.org/drawingml/2006/main" noGrp="1"/>
          </p:cNvSpPr>
          <p:nvPr/>
        </p:nvSpPr>
        <p:spPr>
          <a:xfrm xmlns:a="http://schemas.openxmlformats.org/drawingml/2006/main">
            <a:off x="5143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상태 수집</a:t>
            </a:r>
          </a:p>
        </p:txBody>
      </p:sp>
      <p:sp>
        <p:nvSpPr>
          <p:cNvPr id="6" name="">
            <a:extLst xmlns:a="http://schemas.openxmlformats.org/drawingml/2006/main">
              <a:ext uri="{FF2B5EF4-FFF2-40B4-BE49-F238E27FC236}">
                <a16:creationId xmlns:a16="http://schemas.microsoft.com/office/drawing/2014/main" id="{102186D9-C339-485C-9A2B-4D7E97F2ACC1}"/>
              </a:ext>
            </a:extLst>
          </p:cNvPr>
          <p:cNvSpPr>
            <a:spLocks xmlns:a="http://schemas.openxmlformats.org/drawingml/2006/main" noGrp="1"/>
          </p:cNvSpPr>
          <p:nvPr/>
        </p:nvSpPr>
        <p:spPr>
          <a:xfrm xmlns:a="http://schemas.openxmlformats.org/drawingml/2006/main">
            <a:off x="5143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Excel·SaveData</a:t>
            </a:r>
          </a:p>
        </p:txBody>
      </p:sp>
      <p:sp>
        <p:nvSpPr>
          <p:cNvPr id="7" name="">
            <a:extLst xmlns:a="http://schemas.openxmlformats.org/drawingml/2006/main">
              <a:ext uri="{FF2B5EF4-FFF2-40B4-BE49-F238E27FC236}">
                <a16:creationId xmlns:a16="http://schemas.microsoft.com/office/drawing/2014/main" id="{4C4AB96F-DCED-4446-89B7-A0D0D9F9C903}"/>
              </a:ext>
            </a:extLst>
          </p:cNvPr>
          <p:cNvSpPr>
            <a:spLocks xmlns:a="http://schemas.openxmlformats.org/drawingml/2006/main" noGrp="1"/>
          </p:cNvSpPr>
          <p:nvPr/>
        </p:nvSpPr>
        <p:spPr>
          <a:xfrm xmlns:a="http://schemas.openxmlformats.org/drawingml/2006/main">
            <a:off x="5143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선택·관계·현재 루트</a:t>
            </a:r>
          </a:p>
        </p:txBody>
      </p:sp>
      <p:sp>
        <p:nvSpPr>
          <p:cNvPr id="8" name="">
            <a:extLst xmlns:a="http://schemas.openxmlformats.org/drawingml/2006/main">
              <a:ext uri="{FF2B5EF4-FFF2-40B4-BE49-F238E27FC236}">
                <a16:creationId xmlns:a16="http://schemas.microsoft.com/office/drawing/2014/main" id="{C790FDF8-5413-4666-8F02-7D81B0C209C6}"/>
              </a:ext>
            </a:extLst>
          </p:cNvPr>
          <p:cNvSpPr>
            <a:spLocks xmlns:a="http://schemas.openxmlformats.org/drawingml/2006/main" noGrp="1"/>
          </p:cNvSpPr>
          <p:nvPr/>
        </p:nvSpPr>
        <p:spPr>
          <a:xfrm xmlns:a="http://schemas.openxmlformats.org/drawingml/2006/main">
            <a:off x="26098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9939D6F-4615-4975-AE21-7A7E690A6B75}"/>
              </a:ext>
            </a:extLst>
          </p:cNvPr>
          <p:cNvSpPr>
            <a:spLocks xmlns:a="http://schemas.openxmlformats.org/drawingml/2006/main" noGrp="1"/>
          </p:cNvSpPr>
          <p:nvPr/>
        </p:nvSpPr>
        <p:spPr>
          <a:xfrm xmlns:a="http://schemas.openxmlformats.org/drawingml/2006/main">
            <a:off x="28384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92D8FDE6-4F04-4BBB-873F-D2AF68277647}"/>
              </a:ext>
            </a:extLst>
          </p:cNvPr>
          <p:cNvSpPr>
            <a:spLocks xmlns:a="http://schemas.openxmlformats.org/drawingml/2006/main" noGrp="1"/>
          </p:cNvSpPr>
          <p:nvPr/>
        </p:nvSpPr>
        <p:spPr>
          <a:xfrm xmlns:a="http://schemas.openxmlformats.org/drawingml/2006/main">
            <a:off x="28384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입력 검증</a:t>
            </a:r>
          </a:p>
        </p:txBody>
      </p:sp>
      <p:sp>
        <p:nvSpPr>
          <p:cNvPr id="11" name="">
            <a:extLst xmlns:a="http://schemas.openxmlformats.org/drawingml/2006/main">
              <a:ext uri="{FF2B5EF4-FFF2-40B4-BE49-F238E27FC236}">
                <a16:creationId xmlns:a16="http://schemas.microsoft.com/office/drawing/2014/main" id="{6477196A-D700-4C5E-87E6-E33F49239D84}"/>
              </a:ext>
            </a:extLst>
          </p:cNvPr>
          <p:cNvSpPr>
            <a:spLocks xmlns:a="http://schemas.openxmlformats.org/drawingml/2006/main" noGrp="1"/>
          </p:cNvSpPr>
          <p:nvPr/>
        </p:nvSpPr>
        <p:spPr>
          <a:xfrm xmlns:a="http://schemas.openxmlformats.org/drawingml/2006/main">
            <a:off x="28384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Pydantic·JSON</a:t>
            </a:r>
          </a:p>
        </p:txBody>
      </p:sp>
      <p:sp>
        <p:nvSpPr>
          <p:cNvPr id="12" name="">
            <a:extLst xmlns:a="http://schemas.openxmlformats.org/drawingml/2006/main">
              <a:ext uri="{FF2B5EF4-FFF2-40B4-BE49-F238E27FC236}">
                <a16:creationId xmlns:a16="http://schemas.microsoft.com/office/drawing/2014/main" id="{24220A2A-C513-40E6-B45F-78CC0A7CABB8}"/>
              </a:ext>
            </a:extLst>
          </p:cNvPr>
          <p:cNvSpPr>
            <a:spLocks xmlns:a="http://schemas.openxmlformats.org/drawingml/2006/main" noGrp="1"/>
          </p:cNvSpPr>
          <p:nvPr/>
        </p:nvSpPr>
        <p:spPr>
          <a:xfrm xmlns:a="http://schemas.openxmlformats.org/drawingml/2006/main">
            <a:off x="28384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필수 필드와 변경 금지 목록</a:t>
            </a:r>
          </a:p>
        </p:txBody>
      </p:sp>
      <p:sp>
        <p:nvSpPr>
          <p:cNvPr id="13" name="">
            <a:extLst xmlns:a="http://schemas.openxmlformats.org/drawingml/2006/main">
              <a:ext uri="{FF2B5EF4-FFF2-40B4-BE49-F238E27FC236}">
                <a16:creationId xmlns:a16="http://schemas.microsoft.com/office/drawing/2014/main" id="{3B9AD9B9-7672-4EB8-8775-EE4FD252AE6F}"/>
              </a:ext>
            </a:extLst>
          </p:cNvPr>
          <p:cNvSpPr>
            <a:spLocks xmlns:a="http://schemas.openxmlformats.org/drawingml/2006/main" noGrp="1"/>
          </p:cNvSpPr>
          <p:nvPr/>
        </p:nvSpPr>
        <p:spPr>
          <a:xfrm xmlns:a="http://schemas.openxmlformats.org/drawingml/2006/main">
            <a:off x="49339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9CB423F-2E25-4007-8914-D882B3A60053}"/>
              </a:ext>
            </a:extLst>
          </p:cNvPr>
          <p:cNvSpPr>
            <a:spLocks xmlns:a="http://schemas.openxmlformats.org/drawingml/2006/main" noGrp="1"/>
          </p:cNvSpPr>
          <p:nvPr/>
        </p:nvSpPr>
        <p:spPr>
          <a:xfrm xmlns:a="http://schemas.openxmlformats.org/drawingml/2006/main">
            <a:off x="51625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BF1D7B9E-993D-4C8B-A16B-C0010AFDDA5F}"/>
              </a:ext>
            </a:extLst>
          </p:cNvPr>
          <p:cNvSpPr>
            <a:spLocks xmlns:a="http://schemas.openxmlformats.org/drawingml/2006/main" noGrp="1"/>
          </p:cNvSpPr>
          <p:nvPr/>
        </p:nvSpPr>
        <p:spPr>
          <a:xfrm xmlns:a="http://schemas.openxmlformats.org/drawingml/2006/main">
            <a:off x="51625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후보 생성</a:t>
            </a:r>
          </a:p>
        </p:txBody>
      </p:sp>
      <p:sp>
        <p:nvSpPr>
          <p:cNvPr id="16" name="">
            <a:extLst xmlns:a="http://schemas.openxmlformats.org/drawingml/2006/main">
              <a:ext uri="{FF2B5EF4-FFF2-40B4-BE49-F238E27FC236}">
                <a16:creationId xmlns:a16="http://schemas.microsoft.com/office/drawing/2014/main" id="{7DD267F8-F49F-4598-AA12-5741FCCC3655}"/>
              </a:ext>
            </a:extLst>
          </p:cNvPr>
          <p:cNvSpPr>
            <a:spLocks xmlns:a="http://schemas.openxmlformats.org/drawingml/2006/main" noGrp="1"/>
          </p:cNvSpPr>
          <p:nvPr/>
        </p:nvSpPr>
        <p:spPr>
          <a:xfrm xmlns:a="http://schemas.openxmlformats.org/drawingml/2006/main">
            <a:off x="51625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Kanana 1.3B·3B</a:t>
            </a:r>
          </a:p>
        </p:txBody>
      </p:sp>
      <p:sp>
        <p:nvSpPr>
          <p:cNvPr id="17" name="">
            <a:extLst xmlns:a="http://schemas.openxmlformats.org/drawingml/2006/main">
              <a:ext uri="{FF2B5EF4-FFF2-40B4-BE49-F238E27FC236}">
                <a16:creationId xmlns:a16="http://schemas.microsoft.com/office/drawing/2014/main" id="{F754E148-EB80-42C6-AEF8-D600E62D4388}"/>
              </a:ext>
            </a:extLst>
          </p:cNvPr>
          <p:cNvSpPr>
            <a:spLocks xmlns:a="http://schemas.openxmlformats.org/drawingml/2006/main" noGrp="1"/>
          </p:cNvSpPr>
          <p:nvPr/>
        </p:nvSpPr>
        <p:spPr>
          <a:xfrm xmlns:a="http://schemas.openxmlformats.org/drawingml/2006/main">
            <a:off x="51625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문맥을 포함해 3개 생성</a:t>
            </a:r>
          </a:p>
        </p:txBody>
      </p:sp>
      <p:sp>
        <p:nvSpPr>
          <p:cNvPr id="18" name="">
            <a:extLst xmlns:a="http://schemas.openxmlformats.org/drawingml/2006/main">
              <a:ext uri="{FF2B5EF4-FFF2-40B4-BE49-F238E27FC236}">
                <a16:creationId xmlns:a16="http://schemas.microsoft.com/office/drawing/2014/main" id="{9E2B8183-36A6-4006-BFF0-040B45163EF1}"/>
              </a:ext>
            </a:extLst>
          </p:cNvPr>
          <p:cNvSpPr>
            <a:spLocks xmlns:a="http://schemas.openxmlformats.org/drawingml/2006/main" noGrp="1"/>
          </p:cNvSpPr>
          <p:nvPr/>
        </p:nvSpPr>
        <p:spPr>
          <a:xfrm xmlns:a="http://schemas.openxmlformats.org/drawingml/2006/main">
            <a:off x="72580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BF7E166-A2C6-4AB1-ADF6-006A9925801D}"/>
              </a:ext>
            </a:extLst>
          </p:cNvPr>
          <p:cNvSpPr>
            <a:spLocks xmlns:a="http://schemas.openxmlformats.org/drawingml/2006/main" noGrp="1"/>
          </p:cNvSpPr>
          <p:nvPr/>
        </p:nvSpPr>
        <p:spPr>
          <a:xfrm xmlns:a="http://schemas.openxmlformats.org/drawingml/2006/main">
            <a:off x="74866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E0F1E8A5-C663-4F3F-ACC5-D79CE60DE8F1}"/>
              </a:ext>
            </a:extLst>
          </p:cNvPr>
          <p:cNvSpPr>
            <a:spLocks xmlns:a="http://schemas.openxmlformats.org/drawingml/2006/main" noGrp="1"/>
          </p:cNvSpPr>
          <p:nvPr/>
        </p:nvSpPr>
        <p:spPr>
          <a:xfrm xmlns:a="http://schemas.openxmlformats.org/drawingml/2006/main">
            <a:off x="74866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품질 판정</a:t>
            </a:r>
          </a:p>
        </p:txBody>
      </p:sp>
      <p:sp>
        <p:nvSpPr>
          <p:cNvPr id="21" name="">
            <a:extLst xmlns:a="http://schemas.openxmlformats.org/drawingml/2006/main">
              <a:ext uri="{FF2B5EF4-FFF2-40B4-BE49-F238E27FC236}">
                <a16:creationId xmlns:a16="http://schemas.microsoft.com/office/drawing/2014/main" id="{5BEC2A0B-C209-42A9-8E81-E161C25675F4}"/>
              </a:ext>
            </a:extLst>
          </p:cNvPr>
          <p:cNvSpPr>
            <a:spLocks xmlns:a="http://schemas.openxmlformats.org/drawingml/2006/main" noGrp="1"/>
          </p:cNvSpPr>
          <p:nvPr/>
        </p:nvSpPr>
        <p:spPr>
          <a:xfrm xmlns:a="http://schemas.openxmlformats.org/drawingml/2006/main">
            <a:off x="74866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규칙·의미·루트</a:t>
            </a:r>
          </a:p>
        </p:txBody>
      </p:sp>
      <p:sp>
        <p:nvSpPr>
          <p:cNvPr id="22" name="">
            <a:extLst xmlns:a="http://schemas.openxmlformats.org/drawingml/2006/main">
              <a:ext uri="{FF2B5EF4-FFF2-40B4-BE49-F238E27FC236}">
                <a16:creationId xmlns:a16="http://schemas.microsoft.com/office/drawing/2014/main" id="{C9865D97-2690-4BFB-8D9F-0ECDD4B9BE86}"/>
              </a:ext>
            </a:extLst>
          </p:cNvPr>
          <p:cNvSpPr>
            <a:spLocks xmlns:a="http://schemas.openxmlformats.org/drawingml/2006/main" noGrp="1"/>
          </p:cNvSpPr>
          <p:nvPr/>
        </p:nvSpPr>
        <p:spPr>
          <a:xfrm xmlns:a="http://schemas.openxmlformats.org/drawingml/2006/main">
            <a:off x="74866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통과 결과 선택·원문 복구</a:t>
            </a:r>
          </a:p>
        </p:txBody>
      </p:sp>
      <p:sp>
        <p:nvSpPr>
          <p:cNvPr id="23" name="">
            <a:extLst xmlns:a="http://schemas.openxmlformats.org/drawingml/2006/main">
              <a:ext uri="{FF2B5EF4-FFF2-40B4-BE49-F238E27FC236}">
                <a16:creationId xmlns:a16="http://schemas.microsoft.com/office/drawing/2014/main" id="{63E29022-C9AF-41A0-9EF0-0A38AEFAD2D0}"/>
              </a:ext>
            </a:extLst>
          </p:cNvPr>
          <p:cNvSpPr>
            <a:spLocks xmlns:a="http://schemas.openxmlformats.org/drawingml/2006/main" noGrp="1"/>
          </p:cNvSpPr>
          <p:nvPr/>
        </p:nvSpPr>
        <p:spPr>
          <a:xfrm xmlns:a="http://schemas.openxmlformats.org/drawingml/2006/main">
            <a:off x="95821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9F60131-81FF-4195-AAC1-D9476CDC3F92}"/>
              </a:ext>
            </a:extLst>
          </p:cNvPr>
          <p:cNvSpPr>
            <a:spLocks xmlns:a="http://schemas.openxmlformats.org/drawingml/2006/main" noGrp="1"/>
          </p:cNvSpPr>
          <p:nvPr/>
        </p:nvSpPr>
        <p:spPr>
          <a:xfrm xmlns:a="http://schemas.openxmlformats.org/drawingml/2006/main">
            <a:off x="98107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05</a:t>
            </a:r>
          </a:p>
        </p:txBody>
      </p:sp>
      <p:sp>
        <p:nvSpPr>
          <p:cNvPr id="25" name="">
            <a:extLst xmlns:a="http://schemas.openxmlformats.org/drawingml/2006/main">
              <a:ext uri="{FF2B5EF4-FFF2-40B4-BE49-F238E27FC236}">
                <a16:creationId xmlns:a16="http://schemas.microsoft.com/office/drawing/2014/main" id="{4F854BCB-5C93-47A8-A684-7F350C9AB2E9}"/>
              </a:ext>
            </a:extLst>
          </p:cNvPr>
          <p:cNvSpPr>
            <a:spLocks xmlns:a="http://schemas.openxmlformats.org/drawingml/2006/main" noGrp="1"/>
          </p:cNvSpPr>
          <p:nvPr/>
        </p:nvSpPr>
        <p:spPr>
          <a:xfrm xmlns:a="http://schemas.openxmlformats.org/drawingml/2006/main">
            <a:off x="98107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게임 반영</a:t>
            </a:r>
          </a:p>
        </p:txBody>
      </p:sp>
      <p:sp>
        <p:nvSpPr>
          <p:cNvPr id="26" name="">
            <a:extLst xmlns:a="http://schemas.openxmlformats.org/drawingml/2006/main">
              <a:ext uri="{FF2B5EF4-FFF2-40B4-BE49-F238E27FC236}">
                <a16:creationId xmlns:a16="http://schemas.microsoft.com/office/drawing/2014/main" id="{DB3D8F5C-73C6-4463-A491-5631B5AD914D}"/>
              </a:ext>
            </a:extLst>
          </p:cNvPr>
          <p:cNvSpPr>
            <a:spLocks xmlns:a="http://schemas.openxmlformats.org/drawingml/2006/main" noGrp="1"/>
          </p:cNvSpPr>
          <p:nvPr/>
        </p:nvSpPr>
        <p:spPr>
          <a:xfrm xmlns:a="http://schemas.openxmlformats.org/drawingml/2006/main">
            <a:off x="98107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Unity·C#</a:t>
            </a:r>
          </a:p>
        </p:txBody>
      </p:sp>
      <p:sp>
        <p:nvSpPr>
          <p:cNvPr id="27" name="">
            <a:extLst xmlns:a="http://schemas.openxmlformats.org/drawingml/2006/main">
              <a:ext uri="{FF2B5EF4-FFF2-40B4-BE49-F238E27FC236}">
                <a16:creationId xmlns:a16="http://schemas.microsoft.com/office/drawing/2014/main" id="{60DC7B56-6560-46EB-9D26-4C3FB95BEDB8}"/>
              </a:ext>
            </a:extLst>
          </p:cNvPr>
          <p:cNvSpPr>
            <a:spLocks xmlns:a="http://schemas.openxmlformats.org/drawingml/2006/main" noGrp="1"/>
          </p:cNvSpPr>
          <p:nvPr/>
        </p:nvSpPr>
        <p:spPr>
          <a:xfrm xmlns:a="http://schemas.openxmlformats.org/drawingml/2006/main">
            <a:off x="98107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대화·terrain·미니게임</a:t>
            </a:r>
          </a:p>
        </p:txBody>
      </p:sp>
      <p:sp>
        <p:nvSpPr>
          <p:cNvPr id="28" name="">
            <a:extLst xmlns:a="http://schemas.openxmlformats.org/drawingml/2006/main">
              <a:ext uri="{FF2B5EF4-FFF2-40B4-BE49-F238E27FC236}">
                <a16:creationId xmlns:a16="http://schemas.microsoft.com/office/drawing/2014/main" id="{CA511F70-63D2-4F51-986F-DA9A1561B705}"/>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46A8688-DFD6-43B5-A5DA-9379F0783F8C}"/>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30" name="">
            <a:extLst xmlns:a="http://schemas.openxmlformats.org/drawingml/2006/main">
              <a:ext uri="{FF2B5EF4-FFF2-40B4-BE49-F238E27FC236}">
                <a16:creationId xmlns:a16="http://schemas.microsoft.com/office/drawing/2014/main" id="{DDD2B194-3F26-48F2-9D80-B7A81959486D}"/>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모델</a:t>
            </a:r>
          </a:p>
        </p:txBody>
      </p:sp>
      <p:sp>
        <p:nvSpPr>
          <p:cNvPr id="31" name="">
            <a:extLst xmlns:a="http://schemas.openxmlformats.org/drawingml/2006/main">
              <a:ext uri="{FF2B5EF4-FFF2-40B4-BE49-F238E27FC236}">
                <a16:creationId xmlns:a16="http://schemas.microsoft.com/office/drawing/2014/main" id="{17677806-79D4-459F-A723-2C0EA8718EA9}"/>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Kanana 1.3B·3B 4-bit 비교 후 선정</a:t>
            </a:r>
          </a:p>
        </p:txBody>
      </p:sp>
      <p:sp>
        <p:nvSpPr>
          <p:cNvPr id="32" name="">
            <a:extLst xmlns:a="http://schemas.openxmlformats.org/drawingml/2006/main">
              <a:ext uri="{FF2B5EF4-FFF2-40B4-BE49-F238E27FC236}">
                <a16:creationId xmlns:a16="http://schemas.microsoft.com/office/drawing/2014/main" id="{FA9220E9-42B6-4F92-B43B-21D683D58ED1}"/>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33" name="">
            <a:extLst xmlns:a="http://schemas.openxmlformats.org/drawingml/2006/main">
              <a:ext uri="{FF2B5EF4-FFF2-40B4-BE49-F238E27FC236}">
                <a16:creationId xmlns:a16="http://schemas.microsoft.com/office/drawing/2014/main" id="{26ED5D4E-C0F2-4E95-BBEA-30297E97D939}"/>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Pydantic, JSON Schema, 의미 유사도, 자동 테스트</a:t>
            </a:r>
          </a:p>
        </p:txBody>
      </p:sp>
      <p:sp>
        <p:nvSpPr>
          <p:cNvPr id="34" name="">
            <a:extLst xmlns:a="http://schemas.openxmlformats.org/drawingml/2006/main">
              <a:ext uri="{FF2B5EF4-FFF2-40B4-BE49-F238E27FC236}">
                <a16:creationId xmlns:a16="http://schemas.microsoft.com/office/drawing/2014/main" id="{0A7D6733-F11C-4946-BC55-4FF764DA37D7}"/>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학습</a:t>
            </a:r>
          </a:p>
        </p:txBody>
      </p:sp>
      <p:sp>
        <p:nvSpPr>
          <p:cNvPr id="35" name="">
            <a:extLst xmlns:a="http://schemas.openxmlformats.org/drawingml/2006/main">
              <a:ext uri="{FF2B5EF4-FFF2-40B4-BE49-F238E27FC236}">
                <a16:creationId xmlns:a16="http://schemas.microsoft.com/office/drawing/2014/main" id="{3221EBBA-B53F-44A7-AE09-FEFA6ABB7F70}"/>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승인·거부 데이터를 축적한 뒤 LoRA 파인튜닝</a:t>
            </a:r>
          </a:p>
        </p:txBody>
      </p:sp>
      <p:sp>
        <p:nvSpPr>
          <p:cNvPr id="36" name="">
            <a:extLst xmlns:a="http://schemas.openxmlformats.org/drawingml/2006/main">
              <a:ext uri="{FF2B5EF4-FFF2-40B4-BE49-F238E27FC236}">
                <a16:creationId xmlns:a16="http://schemas.microsoft.com/office/drawing/2014/main" id="{316999C7-5B66-418A-A8FE-2741B4E6C3F5}"/>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7" name="">
            <a:extLst xmlns:a="http://schemas.openxmlformats.org/drawingml/2006/main">
              <a:ext uri="{FF2B5EF4-FFF2-40B4-BE49-F238E27FC236}">
                <a16:creationId xmlns:a16="http://schemas.microsoft.com/office/drawing/2014/main" id="{D1520D6F-AD49-4AB1-BFCA-7932372F4617}"/>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Git</a:t>
            </a:r>
          </a:p>
        </p:txBody>
      </p:sp>
      <p:sp>
        <p:nvSpPr>
          <p:cNvPr id="38" name="">
            <a:extLst xmlns:a="http://schemas.openxmlformats.org/drawingml/2006/main">
              <a:ext uri="{FF2B5EF4-FFF2-40B4-BE49-F238E27FC236}">
                <a16:creationId xmlns:a16="http://schemas.microsoft.com/office/drawing/2014/main" id="{365126F4-23E7-4008-8236-E061F23C53C1}"/>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좋은 결과와 실패 이유를 함께 저장해 이후 LoRA 학습 데이터로 사용합니다.</a:t>
            </a:r>
          </a:p>
        </p:txBody>
      </p:sp>
    </p:spTree>
    <p:extLst>
      <p:ext uri="{BB962C8B-B14F-4D97-AF65-F5344CB8AC3E}">
        <p14:creationId xmlns:p14="http://schemas.microsoft.com/office/powerpoint/2010/main" val="1108574921"/>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C0C3B92-8A20-4A2C-BED3-7B6A16B65E6E}"/>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B4955B12-2C7E-47A8-8827-1BDF0C034AD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C23B66F9-A5DD-400C-B1AE-849A918EF45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524AC1-43D5-47C8-828F-C265CF34A4CB}"/>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6B4ABF6E-F3A1-4046-90F8-E36BF413CC24}"/>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6ED245C6-A783-4B0B-874E-BD1E73C41F5D}"/>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형식</a:t>
            </a:r>
          </a:p>
        </p:txBody>
      </p:sp>
      <p:sp>
        <p:nvSpPr>
          <p:cNvPr id="7" name="">
            <a:extLst xmlns:a="http://schemas.openxmlformats.org/drawingml/2006/main">
              <a:ext uri="{FF2B5EF4-FFF2-40B4-BE49-F238E27FC236}">
                <a16:creationId xmlns:a16="http://schemas.microsoft.com/office/drawing/2014/main" id="{C8062531-6704-4884-8474-B5203A944D18}"/>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JSON·ID·필수 필드 검사와 한국어 인물·장소 보존</a:t>
            </a:r>
          </a:p>
        </p:txBody>
      </p:sp>
      <p:sp>
        <p:nvSpPr>
          <p:cNvPr id="8" name="">
            <a:extLst xmlns:a="http://schemas.openxmlformats.org/drawingml/2006/main">
              <a:ext uri="{FF2B5EF4-FFF2-40B4-BE49-F238E27FC236}">
                <a16:creationId xmlns:a16="http://schemas.microsoft.com/office/drawing/2014/main" id="{92140FC2-8E74-4A5B-8C35-655895C85FCF}"/>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2A70523D-8A67-4486-A8C9-2896B13A5E1D}"/>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10" name="">
            <a:extLst xmlns:a="http://schemas.openxmlformats.org/drawingml/2006/main">
              <a:ext uri="{FF2B5EF4-FFF2-40B4-BE49-F238E27FC236}">
                <a16:creationId xmlns:a16="http://schemas.microsoft.com/office/drawing/2014/main" id="{EC85E224-10CC-4EB6-969F-65B3028C4087}"/>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앞뒤 문맥과 핵심 사건을 유지하고 현재 루트를 이탈하지 않음</a:t>
            </a:r>
          </a:p>
        </p:txBody>
      </p:sp>
      <p:sp>
        <p:nvSpPr>
          <p:cNvPr id="11" name="">
            <a:extLst xmlns:a="http://schemas.openxmlformats.org/drawingml/2006/main">
              <a:ext uri="{FF2B5EF4-FFF2-40B4-BE49-F238E27FC236}">
                <a16:creationId xmlns:a16="http://schemas.microsoft.com/office/drawing/2014/main" id="{5B7293C0-30BB-4142-840D-7FBCFC489477}"/>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7CE15C97-FF24-4ECB-838B-EA9781C6920C}"/>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품질</a:t>
            </a:r>
          </a:p>
        </p:txBody>
      </p:sp>
      <p:sp>
        <p:nvSpPr>
          <p:cNvPr id="13" name="">
            <a:extLst xmlns:a="http://schemas.openxmlformats.org/drawingml/2006/main">
              <a:ext uri="{FF2B5EF4-FFF2-40B4-BE49-F238E27FC236}">
                <a16:creationId xmlns:a16="http://schemas.microsoft.com/office/drawing/2014/main" id="{885887BF-4088-4426-B991-8FD4F0A77224}"/>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1.3B·3B의 자연스러움, 반복 표현과 원문 복구율 비교</a:t>
            </a:r>
          </a:p>
        </p:txBody>
      </p:sp>
      <p:sp>
        <p:nvSpPr>
          <p:cNvPr id="14" name="">
            <a:extLst xmlns:a="http://schemas.openxmlformats.org/drawingml/2006/main">
              <a:ext uri="{FF2B5EF4-FFF2-40B4-BE49-F238E27FC236}">
                <a16:creationId xmlns:a16="http://schemas.microsoft.com/office/drawing/2014/main" id="{FFFCFB79-1FD5-44FA-8279-251ABFA3F84F}"/>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5FC73773-48CB-4B01-AD7C-51AF86F31586}"/>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B633AADD-E00D-48DE-BB94-9FB39413402C}"/>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로딩 시간, 응답 시간, GPU 메모리와 캐시 효과 측정</a:t>
            </a:r>
          </a:p>
        </p:txBody>
      </p:sp>
      <p:sp>
        <p:nvSpPr>
          <p:cNvPr id="17" name="">
            <a:extLst xmlns:a="http://schemas.openxmlformats.org/drawingml/2006/main">
              <a:ext uri="{FF2B5EF4-FFF2-40B4-BE49-F238E27FC236}">
                <a16:creationId xmlns:a16="http://schemas.microsoft.com/office/drawing/2014/main" id="{45E88FB9-CB69-4004-90D4-51319A5A6E99}"/>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F0FDD7E7-CD00-4ED5-9541-C454799F7018}"/>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A6480508-3F41-4EE6-8CB8-FECDC3AF2885}"/>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재시도와 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표준화와 후보 평가를 추가하고, 승인 데이터가 쌓인 뒤 파인튜닝합니다.</a:t>
            </a:r>
          </a:p>
        </p:txBody>
      </p:sp>
    </p:spTree>
    <p:extLst>
      <p:ext uri="{BB962C8B-B14F-4D97-AF65-F5344CB8AC3E}">
        <p14:creationId xmlns:p14="http://schemas.microsoft.com/office/powerpoint/2010/main" val="485521497"/>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A67759-1A57-4F82-8A9B-3A884D1ED5BD}"/>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341BED6E-12F7-4BFB-8CAD-5291C708E4CB}"/>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E124A7EF-6F21-42AB-9317-DE0920AC031E}"/>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2D52F2-70F6-42A4-9396-37710B2E37A6}"/>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37D5346-034F-4D9A-9E1F-637D76FD930D}"/>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7318550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2026-09-27T10:04:11.5230000Z</dcterms:created>
  <dcterms:modified xsi:type="dcterms:W3CDTF">2026-09-27T10:04:11.5230000Z</dcterms:modified>
</coreProperties>
</file>